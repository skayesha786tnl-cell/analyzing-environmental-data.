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Brasika" charset="1" panose="00000000000000000000"/>
      <p:regular r:id="rId34"/>
    </p:embeddedFont>
    <p:embeddedFont>
      <p:font typeface="Kitten" charset="1" panose="00000000000000000000"/>
      <p:regular r:id="rId35"/>
    </p:embeddedFont>
    <p:embeddedFont>
      <p:font typeface="The Seasons" charset="1" panose="00000000000000000000"/>
      <p:regular r:id="rId36"/>
    </p:embeddedFont>
    <p:embeddedFont>
      <p:font typeface="The Seasons Bold" charset="1" panose="00000000000000000000"/>
      <p:regular r:id="rId37"/>
    </p:embeddedFont>
    <p:embeddedFont>
      <p:font typeface="JA Jayagiri Sans"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8.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1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1102282">
            <a:off x="-424094" y="5613969"/>
            <a:ext cx="3977629" cy="6135631"/>
          </a:xfrm>
          <a:custGeom>
            <a:avLst/>
            <a:gdLst/>
            <a:ahLst/>
            <a:cxnLst/>
            <a:rect r="r" b="b" t="t" l="l"/>
            <a:pathLst>
              <a:path h="6135631" w="3977629">
                <a:moveTo>
                  <a:pt x="0" y="0"/>
                </a:moveTo>
                <a:lnTo>
                  <a:pt x="3977629" y="0"/>
                </a:lnTo>
                <a:lnTo>
                  <a:pt x="3977629" y="6135631"/>
                </a:lnTo>
                <a:lnTo>
                  <a:pt x="0" y="6135631"/>
                </a:lnTo>
                <a:lnTo>
                  <a:pt x="0" y="0"/>
                </a:lnTo>
                <a:close/>
              </a:path>
            </a:pathLst>
          </a:custGeom>
          <a:blipFill>
            <a:blip r:embed="rId2"/>
            <a:stretch>
              <a:fillRect l="0" t="0" r="0" b="0"/>
            </a:stretch>
          </a:blipFill>
        </p:spPr>
      </p:sp>
      <p:sp>
        <p:nvSpPr>
          <p:cNvPr name="Freeform 3" id="3"/>
          <p:cNvSpPr/>
          <p:nvPr/>
        </p:nvSpPr>
        <p:spPr>
          <a:xfrm flipH="true" flipV="false" rot="-1092841">
            <a:off x="15684569" y="888100"/>
            <a:ext cx="3977629" cy="6135631"/>
          </a:xfrm>
          <a:custGeom>
            <a:avLst/>
            <a:gdLst/>
            <a:ahLst/>
            <a:cxnLst/>
            <a:rect r="r" b="b" t="t" l="l"/>
            <a:pathLst>
              <a:path h="6135631" w="3977629">
                <a:moveTo>
                  <a:pt x="3977629" y="0"/>
                </a:moveTo>
                <a:lnTo>
                  <a:pt x="0" y="0"/>
                </a:lnTo>
                <a:lnTo>
                  <a:pt x="0" y="6135630"/>
                </a:lnTo>
                <a:lnTo>
                  <a:pt x="3977629" y="6135630"/>
                </a:lnTo>
                <a:lnTo>
                  <a:pt x="3977629" y="0"/>
                </a:lnTo>
                <a:close/>
              </a:path>
            </a:pathLst>
          </a:custGeom>
          <a:blipFill>
            <a:blip r:embed="rId2"/>
            <a:stretch>
              <a:fillRect l="0" t="0" r="0" b="0"/>
            </a:stretch>
          </a:blipFill>
        </p:spPr>
      </p:sp>
      <p:sp>
        <p:nvSpPr>
          <p:cNvPr name="Freeform 4" id="4"/>
          <p:cNvSpPr/>
          <p:nvPr/>
        </p:nvSpPr>
        <p:spPr>
          <a:xfrm flipH="false" flipV="false" rot="0">
            <a:off x="12218392" y="5827555"/>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2963257" y="-3694628"/>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6" id="6"/>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7434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732721" y="1302164"/>
            <a:ext cx="10822558" cy="4563923"/>
          </a:xfrm>
          <a:prstGeom prst="rect">
            <a:avLst/>
          </a:prstGeom>
        </p:spPr>
        <p:txBody>
          <a:bodyPr anchor="t" rtlCol="false" tIns="0" lIns="0" bIns="0" rIns="0">
            <a:spAutoFit/>
          </a:bodyPr>
          <a:lstStyle/>
          <a:p>
            <a:pPr algn="ctr">
              <a:lnSpc>
                <a:spcPts val="11995"/>
              </a:lnSpc>
            </a:pPr>
            <a:r>
              <a:rPr lang="en-US" sz="8568">
                <a:solidFill>
                  <a:srgbClr val="4B581A"/>
                </a:solidFill>
                <a:latin typeface="Brasika"/>
                <a:ea typeface="Brasika"/>
                <a:cs typeface="Brasika"/>
                <a:sym typeface="Brasika"/>
              </a:rPr>
              <a:t>Analyzing Environmental data</a:t>
            </a:r>
          </a:p>
        </p:txBody>
      </p:sp>
      <p:sp>
        <p:nvSpPr>
          <p:cNvPr name="TextBox 9" id="9"/>
          <p:cNvSpPr txBox="true"/>
          <p:nvPr/>
        </p:nvSpPr>
        <p:spPr>
          <a:xfrm rot="0">
            <a:off x="4913613" y="6208555"/>
            <a:ext cx="8460775" cy="1925722"/>
          </a:xfrm>
          <a:prstGeom prst="rect">
            <a:avLst/>
          </a:prstGeom>
        </p:spPr>
        <p:txBody>
          <a:bodyPr anchor="t" rtlCol="false" tIns="0" lIns="0" bIns="0" rIns="0">
            <a:spAutoFit/>
          </a:bodyPr>
          <a:lstStyle/>
          <a:p>
            <a:pPr algn="l" marL="1176197" indent="-588098" lvl="1">
              <a:lnSpc>
                <a:spcPts val="7627"/>
              </a:lnSpc>
              <a:buAutoNum type="arabicPeriod" startAt="1"/>
            </a:pPr>
            <a:r>
              <a:rPr lang="en-US" sz="5447">
                <a:solidFill>
                  <a:srgbClr val="455111"/>
                </a:solidFill>
                <a:latin typeface="Kitten"/>
                <a:ea typeface="Kitten"/>
                <a:cs typeface="Kitten"/>
                <a:sym typeface="Kitten"/>
              </a:rPr>
              <a:t>Sk Ayesha-24bq1a051y</a:t>
            </a:r>
          </a:p>
          <a:p>
            <a:pPr algn="l" marL="1176197" indent="-588098" lvl="1">
              <a:lnSpc>
                <a:spcPts val="7627"/>
              </a:lnSpc>
              <a:buAutoNum type="arabicPeriod" startAt="1"/>
            </a:pPr>
            <a:r>
              <a:rPr lang="en-US" sz="5447">
                <a:solidFill>
                  <a:srgbClr val="455111"/>
                </a:solidFill>
                <a:latin typeface="Kitten"/>
                <a:ea typeface="Kitten"/>
                <a:cs typeface="Kitten"/>
                <a:sym typeface="Kitten"/>
              </a:rPr>
              <a:t>P Sowmya-24bq1a54d1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1102282">
            <a:off x="-424094" y="5613969"/>
            <a:ext cx="3977629" cy="6135631"/>
          </a:xfrm>
          <a:custGeom>
            <a:avLst/>
            <a:gdLst/>
            <a:ahLst/>
            <a:cxnLst/>
            <a:rect r="r" b="b" t="t" l="l"/>
            <a:pathLst>
              <a:path h="6135631" w="3977629">
                <a:moveTo>
                  <a:pt x="0" y="0"/>
                </a:moveTo>
                <a:lnTo>
                  <a:pt x="3977629" y="0"/>
                </a:lnTo>
                <a:lnTo>
                  <a:pt x="3977629" y="6135631"/>
                </a:lnTo>
                <a:lnTo>
                  <a:pt x="0" y="6135631"/>
                </a:lnTo>
                <a:lnTo>
                  <a:pt x="0" y="0"/>
                </a:lnTo>
                <a:close/>
              </a:path>
            </a:pathLst>
          </a:custGeom>
          <a:blipFill>
            <a:blip r:embed="rId2"/>
            <a:stretch>
              <a:fillRect l="0" t="0" r="0" b="0"/>
            </a:stretch>
          </a:blipFill>
        </p:spPr>
      </p:sp>
      <p:sp>
        <p:nvSpPr>
          <p:cNvPr name="Freeform 3" id="3"/>
          <p:cNvSpPr/>
          <p:nvPr/>
        </p:nvSpPr>
        <p:spPr>
          <a:xfrm flipH="true" flipV="false" rot="-1092841">
            <a:off x="15684569" y="888100"/>
            <a:ext cx="3977629" cy="6135631"/>
          </a:xfrm>
          <a:custGeom>
            <a:avLst/>
            <a:gdLst/>
            <a:ahLst/>
            <a:cxnLst/>
            <a:rect r="r" b="b" t="t" l="l"/>
            <a:pathLst>
              <a:path h="6135631" w="3977629">
                <a:moveTo>
                  <a:pt x="3977629" y="0"/>
                </a:moveTo>
                <a:lnTo>
                  <a:pt x="0" y="0"/>
                </a:lnTo>
                <a:lnTo>
                  <a:pt x="0" y="6135630"/>
                </a:lnTo>
                <a:lnTo>
                  <a:pt x="3977629" y="6135630"/>
                </a:lnTo>
                <a:lnTo>
                  <a:pt x="3977629" y="0"/>
                </a:lnTo>
                <a:close/>
              </a:path>
            </a:pathLst>
          </a:custGeom>
          <a:blipFill>
            <a:blip r:embed="rId2"/>
            <a:stretch>
              <a:fillRect l="0" t="0" r="0" b="0"/>
            </a:stretch>
          </a:blipFill>
        </p:spPr>
      </p:sp>
      <p:sp>
        <p:nvSpPr>
          <p:cNvPr name="Freeform 4" id="4"/>
          <p:cNvSpPr/>
          <p:nvPr/>
        </p:nvSpPr>
        <p:spPr>
          <a:xfrm flipH="false" flipV="false" rot="0">
            <a:off x="12218392" y="5827555"/>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2963257" y="-3694628"/>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6" id="6"/>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7434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6522704" y="182047"/>
            <a:ext cx="7807655" cy="1534973"/>
          </a:xfrm>
          <a:prstGeom prst="rect">
            <a:avLst/>
          </a:prstGeom>
        </p:spPr>
        <p:txBody>
          <a:bodyPr anchor="t" rtlCol="false" tIns="0" lIns="0" bIns="0" rIns="0">
            <a:spAutoFit/>
          </a:bodyPr>
          <a:lstStyle/>
          <a:p>
            <a:pPr algn="ctr">
              <a:lnSpc>
                <a:spcPts val="11995"/>
              </a:lnSpc>
            </a:pPr>
            <a:r>
              <a:rPr lang="en-US" sz="8568">
                <a:solidFill>
                  <a:srgbClr val="4B581A"/>
                </a:solidFill>
                <a:latin typeface="Brasika"/>
                <a:ea typeface="Brasika"/>
                <a:cs typeface="Brasika"/>
                <a:sym typeface="Brasika"/>
              </a:rPr>
              <a:t>CONTENTS</a:t>
            </a:r>
          </a:p>
        </p:txBody>
      </p:sp>
      <p:sp>
        <p:nvSpPr>
          <p:cNvPr name="TextBox 9" id="9"/>
          <p:cNvSpPr txBox="true"/>
          <p:nvPr/>
        </p:nvSpPr>
        <p:spPr>
          <a:xfrm rot="0">
            <a:off x="4640717" y="1516514"/>
            <a:ext cx="9389928" cy="7982003"/>
          </a:xfrm>
          <a:prstGeom prst="rect">
            <a:avLst/>
          </a:prstGeom>
        </p:spPr>
        <p:txBody>
          <a:bodyPr anchor="t" rtlCol="false" tIns="0" lIns="0" bIns="0" rIns="0">
            <a:spAutoFit/>
          </a:bodyPr>
          <a:lstStyle/>
          <a:p>
            <a:pPr algn="just">
              <a:lnSpc>
                <a:spcPts val="5667"/>
              </a:lnSpc>
            </a:pPr>
            <a:r>
              <a:rPr lang="en-US" sz="4047">
                <a:solidFill>
                  <a:srgbClr val="455111"/>
                </a:solidFill>
                <a:latin typeface="The Seasons"/>
                <a:ea typeface="The Seasons"/>
                <a:cs typeface="The Seasons"/>
                <a:sym typeface="The Seasons"/>
              </a:rPr>
              <a:t> </a:t>
            </a:r>
            <a:r>
              <a:rPr lang="en-US" sz="4047" b="true">
                <a:solidFill>
                  <a:srgbClr val="455111"/>
                </a:solidFill>
                <a:latin typeface="The Seasons Bold"/>
                <a:ea typeface="The Seasons Bold"/>
                <a:cs typeface="The Seasons Bold"/>
                <a:sym typeface="The Seasons Bold"/>
              </a:rPr>
              <a:t>1.Abstract </a:t>
            </a:r>
          </a:p>
          <a:p>
            <a:pPr algn="just">
              <a:lnSpc>
                <a:spcPts val="5667"/>
              </a:lnSpc>
            </a:pPr>
            <a:r>
              <a:rPr lang="en-US" sz="4047" b="true">
                <a:solidFill>
                  <a:srgbClr val="455111"/>
                </a:solidFill>
                <a:latin typeface="The Seasons Bold"/>
                <a:ea typeface="The Seasons Bold"/>
                <a:cs typeface="The Seasons Bold"/>
                <a:sym typeface="The Seasons Bold"/>
              </a:rPr>
              <a:t>2.Introduction </a:t>
            </a:r>
          </a:p>
          <a:p>
            <a:pPr algn="just">
              <a:lnSpc>
                <a:spcPts val="5667"/>
              </a:lnSpc>
            </a:pPr>
            <a:r>
              <a:rPr lang="en-US" sz="4047" b="true">
                <a:solidFill>
                  <a:srgbClr val="455111"/>
                </a:solidFill>
                <a:latin typeface="The Seasons Bold"/>
                <a:ea typeface="The Seasons Bold"/>
                <a:cs typeface="The Seasons Bold"/>
                <a:sym typeface="The Seasons Bold"/>
              </a:rPr>
              <a:t>3.Problem Statement </a:t>
            </a:r>
          </a:p>
          <a:p>
            <a:pPr algn="just">
              <a:lnSpc>
                <a:spcPts val="5667"/>
              </a:lnSpc>
            </a:pPr>
            <a:r>
              <a:rPr lang="en-US" sz="4047" b="true">
                <a:solidFill>
                  <a:srgbClr val="455111"/>
                </a:solidFill>
                <a:latin typeface="The Seasons Bold"/>
                <a:ea typeface="The Seasons Bold"/>
                <a:cs typeface="The Seasons Bold"/>
                <a:sym typeface="The Seasons Bold"/>
              </a:rPr>
              <a:t>4.Project Objectives</a:t>
            </a:r>
          </a:p>
          <a:p>
            <a:pPr algn="just">
              <a:lnSpc>
                <a:spcPts val="5667"/>
              </a:lnSpc>
            </a:pPr>
            <a:r>
              <a:rPr lang="en-US" sz="4047" b="true">
                <a:solidFill>
                  <a:srgbClr val="455111"/>
                </a:solidFill>
                <a:latin typeface="The Seasons Bold"/>
                <a:ea typeface="The Seasons Bold"/>
                <a:cs typeface="The Seasons Bold"/>
                <a:sym typeface="The Seasons Bold"/>
              </a:rPr>
              <a:t> 5.Dataset Overview</a:t>
            </a:r>
          </a:p>
          <a:p>
            <a:pPr algn="just">
              <a:lnSpc>
                <a:spcPts val="5527"/>
              </a:lnSpc>
            </a:pPr>
            <a:r>
              <a:rPr lang="en-US" sz="3947" b="true">
                <a:solidFill>
                  <a:srgbClr val="455111"/>
                </a:solidFill>
                <a:latin typeface="The Seasons Bold"/>
                <a:ea typeface="The Seasons Bold"/>
                <a:cs typeface="The Seasons Bold"/>
                <a:sym typeface="The Seasons Bold"/>
              </a:rPr>
              <a:t> 6.Data cleaning and preprocessing</a:t>
            </a:r>
          </a:p>
          <a:p>
            <a:pPr algn="just">
              <a:lnSpc>
                <a:spcPts val="5667"/>
              </a:lnSpc>
            </a:pPr>
            <a:r>
              <a:rPr lang="en-US" sz="4047" b="true">
                <a:solidFill>
                  <a:srgbClr val="455111"/>
                </a:solidFill>
                <a:latin typeface="The Seasons Bold"/>
                <a:ea typeface="The Seasons Bold"/>
                <a:cs typeface="The Seasons Bold"/>
                <a:sym typeface="The Seasons Bold"/>
              </a:rPr>
              <a:t> 7.Advantanges of project </a:t>
            </a:r>
          </a:p>
          <a:p>
            <a:pPr algn="just">
              <a:lnSpc>
                <a:spcPts val="5667"/>
              </a:lnSpc>
            </a:pPr>
            <a:r>
              <a:rPr lang="en-US" sz="4047" b="true">
                <a:solidFill>
                  <a:srgbClr val="455111"/>
                </a:solidFill>
                <a:latin typeface="The Seasons Bold"/>
                <a:ea typeface="The Seasons Bold"/>
                <a:cs typeface="The Seasons Bold"/>
                <a:sym typeface="The Seasons Bold"/>
              </a:rPr>
              <a:t>8.Hardware and software requirements</a:t>
            </a:r>
          </a:p>
          <a:p>
            <a:pPr algn="just">
              <a:lnSpc>
                <a:spcPts val="5667"/>
              </a:lnSpc>
            </a:pPr>
            <a:r>
              <a:rPr lang="en-US" sz="4047" b="true">
                <a:solidFill>
                  <a:srgbClr val="455111"/>
                </a:solidFill>
                <a:latin typeface="The Seasons Bold"/>
                <a:ea typeface="The Seasons Bold"/>
                <a:cs typeface="The Seasons Bold"/>
                <a:sym typeface="The Seasons Bold"/>
              </a:rPr>
              <a:t> 9.Libraries used </a:t>
            </a:r>
          </a:p>
          <a:p>
            <a:pPr algn="just">
              <a:lnSpc>
                <a:spcPts val="5667"/>
              </a:lnSpc>
            </a:pPr>
            <a:r>
              <a:rPr lang="en-US" sz="4047" b="true">
                <a:solidFill>
                  <a:srgbClr val="455111"/>
                </a:solidFill>
                <a:latin typeface="The Seasons Bold"/>
                <a:ea typeface="The Seasons Bold"/>
                <a:cs typeface="The Seasons Bold"/>
                <a:sym typeface="The Seasons Bold"/>
              </a:rPr>
              <a:t>10.Charts.</a:t>
            </a:r>
          </a:p>
          <a:p>
            <a:pPr algn="just">
              <a:lnSpc>
                <a:spcPts val="5667"/>
              </a:lnSpc>
            </a:pPr>
            <a:r>
              <a:rPr lang="en-US" sz="4047" b="true">
                <a:solidFill>
                  <a:srgbClr val="455111"/>
                </a:solidFill>
                <a:latin typeface="The Seasons Bold"/>
                <a:ea typeface="The Seasons Bold"/>
                <a:cs typeface="The Seasons Bold"/>
                <a:sym typeface="The Seasons Bold"/>
              </a:rPr>
              <a:t> 11.Conclusion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004493" y="3099942"/>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3859585" y="6727040"/>
            <a:ext cx="7224756" cy="6565497"/>
          </a:xfrm>
          <a:custGeom>
            <a:avLst/>
            <a:gdLst/>
            <a:ahLst/>
            <a:cxnLst/>
            <a:rect r="r" b="b" t="t" l="l"/>
            <a:pathLst>
              <a:path h="6565497" w="7224756">
                <a:moveTo>
                  <a:pt x="0" y="0"/>
                </a:moveTo>
                <a:lnTo>
                  <a:pt x="7224756" y="0"/>
                </a:lnTo>
                <a:lnTo>
                  <a:pt x="7224756" y="6565497"/>
                </a:lnTo>
                <a:lnTo>
                  <a:pt x="0" y="6565497"/>
                </a:lnTo>
                <a:lnTo>
                  <a:pt x="0" y="0"/>
                </a:lnTo>
                <a:close/>
              </a:path>
            </a:pathLst>
          </a:custGeom>
          <a:blipFill>
            <a:blip r:embed="rId4"/>
            <a:stretch>
              <a:fillRect l="0" t="0" r="0" b="0"/>
            </a:stretch>
          </a:blipFill>
        </p:spPr>
      </p:sp>
      <p:sp>
        <p:nvSpPr>
          <p:cNvPr name="Freeform 7" id="7"/>
          <p:cNvSpPr/>
          <p:nvPr/>
        </p:nvSpPr>
        <p:spPr>
          <a:xfrm flipH="false" flipV="false" rot="0">
            <a:off x="-2999611" y="-1897479"/>
            <a:ext cx="7147901" cy="6495655"/>
          </a:xfrm>
          <a:custGeom>
            <a:avLst/>
            <a:gdLst/>
            <a:ahLst/>
            <a:cxnLst/>
            <a:rect r="r" b="b" t="t" l="l"/>
            <a:pathLst>
              <a:path h="6495655" w="7147901">
                <a:moveTo>
                  <a:pt x="0" y="0"/>
                </a:moveTo>
                <a:lnTo>
                  <a:pt x="7147901" y="0"/>
                </a:lnTo>
                <a:lnTo>
                  <a:pt x="7147901"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868165" y="1303021"/>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ABSTRACT</a:t>
            </a:r>
          </a:p>
        </p:txBody>
      </p:sp>
      <p:sp>
        <p:nvSpPr>
          <p:cNvPr name="TextBox 11" id="11"/>
          <p:cNvSpPr txBox="true"/>
          <p:nvPr/>
        </p:nvSpPr>
        <p:spPr>
          <a:xfrm rot="0">
            <a:off x="2897281" y="3393428"/>
            <a:ext cx="11991767" cy="6256718"/>
          </a:xfrm>
          <a:prstGeom prst="rect">
            <a:avLst/>
          </a:prstGeom>
        </p:spPr>
        <p:txBody>
          <a:bodyPr anchor="t" rtlCol="false" tIns="0" lIns="0" bIns="0" rIns="0">
            <a:spAutoFit/>
          </a:bodyPr>
          <a:lstStyle/>
          <a:p>
            <a:pPr algn="ctr">
              <a:lnSpc>
                <a:spcPts val="3251"/>
              </a:lnSpc>
            </a:pPr>
            <a:r>
              <a:rPr lang="en-US" sz="2322">
                <a:solidFill>
                  <a:srgbClr val="4B581A"/>
                </a:solidFill>
                <a:latin typeface="JA Jayagiri Sans"/>
                <a:ea typeface="JA Jayagiri Sans"/>
                <a:cs typeface="JA Jayagiri Sans"/>
                <a:sym typeface="JA Jayagiri Sans"/>
              </a:rPr>
              <a:t>This project presents an analysis of Air Quality in India (2017–2022) using Python. Air pollution is a major problem that affects people's health and the environment. This project uses a dataset containing PM2.5 values collected from different locations in India. Using Pandas, NumPy, Matplotlib, and Seaborn, the dataset is loaded, cleaned, and analyzed. The analysis includes checking missing values, duplicate rows, data types, maximum and minimum PM2.5 values, and statistical summary. It also shows year-wise, month-wise, day-wise, and hour-wise PM2.5 trends. Different charts such as line charts, bar charts, scatter plots, histograms, box plots, and heatmaps are used to understand pollution patterns. Outlier detection, correlation analysis, and trend smoothing are also performed. The results help us understand PM2.5 pollution trends and show how data analysis can support better environmental awareness and decision-making.</a:t>
            </a:r>
          </a:p>
          <a:p>
            <a:pPr algn="ctr">
              <a:lnSpc>
                <a:spcPts val="423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004493" y="3099942"/>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3859585" y="6727040"/>
            <a:ext cx="7224756" cy="6565497"/>
          </a:xfrm>
          <a:custGeom>
            <a:avLst/>
            <a:gdLst/>
            <a:ahLst/>
            <a:cxnLst/>
            <a:rect r="r" b="b" t="t" l="l"/>
            <a:pathLst>
              <a:path h="6565497" w="7224756">
                <a:moveTo>
                  <a:pt x="0" y="0"/>
                </a:moveTo>
                <a:lnTo>
                  <a:pt x="7224756" y="0"/>
                </a:lnTo>
                <a:lnTo>
                  <a:pt x="7224756" y="6565497"/>
                </a:lnTo>
                <a:lnTo>
                  <a:pt x="0" y="6565497"/>
                </a:lnTo>
                <a:lnTo>
                  <a:pt x="0" y="0"/>
                </a:lnTo>
                <a:close/>
              </a:path>
            </a:pathLst>
          </a:custGeom>
          <a:blipFill>
            <a:blip r:embed="rId4"/>
            <a:stretch>
              <a:fillRect l="0" t="0" r="0" b="0"/>
            </a:stretch>
          </a:blipFill>
        </p:spPr>
      </p:sp>
      <p:sp>
        <p:nvSpPr>
          <p:cNvPr name="Freeform 7" id="7"/>
          <p:cNvSpPr/>
          <p:nvPr/>
        </p:nvSpPr>
        <p:spPr>
          <a:xfrm flipH="false" flipV="false" rot="0">
            <a:off x="-2999611" y="-1897479"/>
            <a:ext cx="7147901" cy="6495655"/>
          </a:xfrm>
          <a:custGeom>
            <a:avLst/>
            <a:gdLst/>
            <a:ahLst/>
            <a:cxnLst/>
            <a:rect r="r" b="b" t="t" l="l"/>
            <a:pathLst>
              <a:path h="6495655" w="7147901">
                <a:moveTo>
                  <a:pt x="0" y="0"/>
                </a:moveTo>
                <a:lnTo>
                  <a:pt x="7147901" y="0"/>
                </a:lnTo>
                <a:lnTo>
                  <a:pt x="7147901"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435460" y="528269"/>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Introduction</a:t>
            </a:r>
          </a:p>
        </p:txBody>
      </p:sp>
      <p:sp>
        <p:nvSpPr>
          <p:cNvPr name="TextBox 11" id="11"/>
          <p:cNvSpPr txBox="true"/>
          <p:nvPr/>
        </p:nvSpPr>
        <p:spPr>
          <a:xfrm rot="0">
            <a:off x="3664493" y="2067995"/>
            <a:ext cx="11572034" cy="7639547"/>
          </a:xfrm>
          <a:prstGeom prst="rect">
            <a:avLst/>
          </a:prstGeom>
        </p:spPr>
        <p:txBody>
          <a:bodyPr anchor="t" rtlCol="false" tIns="0" lIns="0" bIns="0" rIns="0">
            <a:spAutoFit/>
          </a:bodyPr>
          <a:lstStyle/>
          <a:p>
            <a:pPr algn="l">
              <a:lnSpc>
                <a:spcPts val="3541"/>
              </a:lnSpc>
            </a:pPr>
            <a:r>
              <a:rPr lang="en-US" sz="2529">
                <a:solidFill>
                  <a:srgbClr val="4B581A"/>
                </a:solidFill>
                <a:latin typeface="JA Jayagiri Sans"/>
                <a:ea typeface="JA Jayagiri Sans"/>
                <a:cs typeface="JA Jayagiri Sans"/>
                <a:sym typeface="JA Jayagiri Sans"/>
              </a:rPr>
              <a:t>▶ What is Air Quality?</a:t>
            </a:r>
          </a:p>
          <a:p>
            <a:pPr algn="l">
              <a:lnSpc>
                <a:spcPts val="3541"/>
              </a:lnSpc>
            </a:pPr>
            <a:r>
              <a:rPr lang="en-US" sz="2529">
                <a:solidFill>
                  <a:srgbClr val="4B581A"/>
                </a:solidFill>
                <a:latin typeface="JA Jayagiri Sans"/>
                <a:ea typeface="JA Jayagiri Sans"/>
                <a:cs typeface="JA Jayagiri Sans"/>
                <a:sym typeface="JA Jayagiri Sans"/>
              </a:rPr>
              <a:t>Air quality shows how clean or polluted the air is. It is measured by the amount of harmful pollutants present in the air.</a:t>
            </a:r>
          </a:p>
          <a:p>
            <a:pPr algn="l">
              <a:lnSpc>
                <a:spcPts val="3541"/>
              </a:lnSpc>
            </a:pPr>
            <a:r>
              <a:rPr lang="en-US" sz="2529">
                <a:solidFill>
                  <a:srgbClr val="4B581A"/>
                </a:solidFill>
                <a:latin typeface="JA Jayagiri Sans"/>
                <a:ea typeface="JA Jayagiri Sans"/>
                <a:cs typeface="JA Jayagiri Sans"/>
                <a:sym typeface="JA Jayagiri Sans"/>
              </a:rPr>
              <a:t>▶ What is PM2.5?</a:t>
            </a:r>
          </a:p>
          <a:p>
            <a:pPr algn="l">
              <a:lnSpc>
                <a:spcPts val="3541"/>
              </a:lnSpc>
            </a:pPr>
            <a:r>
              <a:rPr lang="en-US" sz="2529">
                <a:solidFill>
                  <a:srgbClr val="4B581A"/>
                </a:solidFill>
                <a:latin typeface="JA Jayagiri Sans"/>
                <a:ea typeface="JA Jayagiri Sans"/>
                <a:cs typeface="JA Jayagiri Sans"/>
                <a:sym typeface="JA Jayagiri Sans"/>
              </a:rPr>
              <a:t>PM2.5 consists of very small dust particles (2.5 micrometers or smaller). These particles can enter the lungs and cause breathing and heart problems.</a:t>
            </a:r>
          </a:p>
          <a:p>
            <a:pPr algn="l">
              <a:lnSpc>
                <a:spcPts val="3541"/>
              </a:lnSpc>
            </a:pPr>
            <a:r>
              <a:rPr lang="en-US" sz="2529">
                <a:solidFill>
                  <a:srgbClr val="4B581A"/>
                </a:solidFill>
                <a:latin typeface="JA Jayagiri Sans"/>
                <a:ea typeface="JA Jayagiri Sans"/>
                <a:cs typeface="JA Jayagiri Sans"/>
                <a:sym typeface="JA Jayagiri Sans"/>
              </a:rPr>
              <a:t>▶ Air Pollution in India</a:t>
            </a:r>
          </a:p>
          <a:p>
            <a:pPr algn="l">
              <a:lnSpc>
                <a:spcPts val="3541"/>
              </a:lnSpc>
            </a:pPr>
            <a:r>
              <a:rPr lang="en-US" sz="2529">
                <a:solidFill>
                  <a:srgbClr val="4B581A"/>
                </a:solidFill>
                <a:latin typeface="JA Jayagiri Sans"/>
                <a:ea typeface="JA Jayagiri Sans"/>
                <a:cs typeface="JA Jayagiri Sans"/>
                <a:sym typeface="JA Jayagiri Sans"/>
              </a:rPr>
              <a:t>Air pollution has increased in many cities in India due to traffic, industries, construction work, and burning of fuels. High PM2.5 levels affect both health and the environment.</a:t>
            </a:r>
          </a:p>
          <a:p>
            <a:pPr algn="l">
              <a:lnSpc>
                <a:spcPts val="3541"/>
              </a:lnSpc>
            </a:pPr>
            <a:r>
              <a:rPr lang="en-US" sz="2529">
                <a:solidFill>
                  <a:srgbClr val="4B581A"/>
                </a:solidFill>
                <a:latin typeface="JA Jayagiri Sans"/>
                <a:ea typeface="JA Jayagiri Sans"/>
                <a:cs typeface="JA Jayagiri Sans"/>
                <a:sym typeface="JA Jayagiri Sans"/>
              </a:rPr>
              <a:t>▶ Need for Data Analysis</a:t>
            </a:r>
          </a:p>
          <a:p>
            <a:pPr algn="l">
              <a:lnSpc>
                <a:spcPts val="3541"/>
              </a:lnSpc>
            </a:pPr>
            <a:r>
              <a:rPr lang="en-US" sz="2529">
                <a:solidFill>
                  <a:srgbClr val="4B581A"/>
                </a:solidFill>
                <a:latin typeface="JA Jayagiri Sans"/>
                <a:ea typeface="JA Jayagiri Sans"/>
                <a:cs typeface="JA Jayagiri Sans"/>
                <a:sym typeface="JA Jayagiri Sans"/>
              </a:rPr>
              <a:t>Analyzing PM2.5 data helps us understand pollution trends, identify high pollution periods, and support better environmental planning and decision-making.</a:t>
            </a:r>
          </a:p>
          <a:p>
            <a:pPr algn="ctr">
              <a:lnSpc>
                <a:spcPts val="354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368478" y="3706036"/>
            <a:ext cx="2282197" cy="3520368"/>
          </a:xfrm>
          <a:custGeom>
            <a:avLst/>
            <a:gdLst/>
            <a:ahLst/>
            <a:cxnLst/>
            <a:rect r="r" b="b" t="t" l="l"/>
            <a:pathLst>
              <a:path h="3520368" w="2282197">
                <a:moveTo>
                  <a:pt x="0" y="0"/>
                </a:moveTo>
                <a:lnTo>
                  <a:pt x="2282197" y="0"/>
                </a:lnTo>
                <a:lnTo>
                  <a:pt x="2282197" y="3520368"/>
                </a:lnTo>
                <a:lnTo>
                  <a:pt x="0" y="352036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5353075" y="8084250"/>
            <a:ext cx="5731266" cy="5208288"/>
          </a:xfrm>
          <a:custGeom>
            <a:avLst/>
            <a:gdLst/>
            <a:ahLst/>
            <a:cxnLst/>
            <a:rect r="r" b="b" t="t" l="l"/>
            <a:pathLst>
              <a:path h="5208288" w="5731266">
                <a:moveTo>
                  <a:pt x="0" y="0"/>
                </a:moveTo>
                <a:lnTo>
                  <a:pt x="5731266" y="0"/>
                </a:lnTo>
                <a:lnTo>
                  <a:pt x="5731266" y="5208287"/>
                </a:lnTo>
                <a:lnTo>
                  <a:pt x="0" y="5208287"/>
                </a:lnTo>
                <a:lnTo>
                  <a:pt x="0" y="0"/>
                </a:lnTo>
                <a:close/>
              </a:path>
            </a:pathLst>
          </a:custGeom>
          <a:blipFill>
            <a:blip r:embed="rId4"/>
            <a:stretch>
              <a:fillRect l="0" t="0" r="0" b="0"/>
            </a:stretch>
          </a:blipFill>
        </p:spPr>
      </p:sp>
      <p:sp>
        <p:nvSpPr>
          <p:cNvPr name="Freeform 7" id="7"/>
          <p:cNvSpPr/>
          <p:nvPr/>
        </p:nvSpPr>
        <p:spPr>
          <a:xfrm flipH="false" flipV="false" rot="0">
            <a:off x="-2999611" y="-1897479"/>
            <a:ext cx="5162309" cy="4691249"/>
          </a:xfrm>
          <a:custGeom>
            <a:avLst/>
            <a:gdLst/>
            <a:ahLst/>
            <a:cxnLst/>
            <a:rect r="r" b="b" t="t" l="l"/>
            <a:pathLst>
              <a:path h="4691249" w="5162309">
                <a:moveTo>
                  <a:pt x="0" y="0"/>
                </a:moveTo>
                <a:lnTo>
                  <a:pt x="5162310" y="0"/>
                </a:lnTo>
                <a:lnTo>
                  <a:pt x="5162310" y="4691249"/>
                </a:lnTo>
                <a:lnTo>
                  <a:pt x="0" y="4691249"/>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406323" y="722490"/>
            <a:ext cx="10340765" cy="1084267"/>
          </a:xfrm>
          <a:prstGeom prst="rect">
            <a:avLst/>
          </a:prstGeom>
        </p:spPr>
        <p:txBody>
          <a:bodyPr anchor="t" rtlCol="false" tIns="0" lIns="0" bIns="0" rIns="0">
            <a:spAutoFit/>
          </a:bodyPr>
          <a:lstStyle/>
          <a:p>
            <a:pPr algn="ctr">
              <a:lnSpc>
                <a:spcPts val="8416"/>
              </a:lnSpc>
            </a:pPr>
            <a:r>
              <a:rPr lang="en-US" sz="6012">
                <a:solidFill>
                  <a:srgbClr val="788838"/>
                </a:solidFill>
                <a:latin typeface="Brasika"/>
                <a:ea typeface="Brasika"/>
                <a:cs typeface="Brasika"/>
                <a:sym typeface="Brasika"/>
              </a:rPr>
              <a:t>PROBLEM STATEMENT</a:t>
            </a:r>
          </a:p>
        </p:txBody>
      </p:sp>
      <p:sp>
        <p:nvSpPr>
          <p:cNvPr name="TextBox 11" id="11"/>
          <p:cNvSpPr txBox="true"/>
          <p:nvPr/>
        </p:nvSpPr>
        <p:spPr>
          <a:xfrm rot="0">
            <a:off x="1692315" y="1455421"/>
            <a:ext cx="13092034" cy="8002680"/>
          </a:xfrm>
          <a:prstGeom prst="rect">
            <a:avLst/>
          </a:prstGeom>
        </p:spPr>
        <p:txBody>
          <a:bodyPr anchor="t" rtlCol="false" tIns="0" lIns="0" bIns="0" rIns="0">
            <a:spAutoFit/>
          </a:bodyPr>
          <a:lstStyle/>
          <a:p>
            <a:pPr algn="ctr">
              <a:lnSpc>
                <a:spcPts val="4205"/>
              </a:lnSpc>
            </a:pPr>
          </a:p>
          <a:p>
            <a:pPr algn="l">
              <a:lnSpc>
                <a:spcPts val="4205"/>
              </a:lnSpc>
            </a:pPr>
            <a:r>
              <a:rPr lang="en-US" sz="3004">
                <a:solidFill>
                  <a:srgbClr val="4B581A"/>
                </a:solidFill>
                <a:latin typeface="JA Jayagiri Sans"/>
                <a:ea typeface="JA Jayagiri Sans"/>
                <a:cs typeface="JA Jayagiri Sans"/>
                <a:sym typeface="JA Jayagiri Sans"/>
              </a:rPr>
              <a:t>1. Increasing Air Pollution Levels</a:t>
            </a:r>
          </a:p>
          <a:p>
            <a:pPr algn="l">
              <a:lnSpc>
                <a:spcPts val="4205"/>
              </a:lnSpc>
            </a:pPr>
            <a:r>
              <a:rPr lang="en-US" sz="3004">
                <a:solidFill>
                  <a:srgbClr val="4B581A"/>
                </a:solidFill>
                <a:latin typeface="JA Jayagiri Sans"/>
                <a:ea typeface="JA Jayagiri Sans"/>
                <a:cs typeface="JA Jayagiri Sans"/>
                <a:sym typeface="JA Jayagiri Sans"/>
              </a:rPr>
              <a:t>Air pollution has become a major environmental problem in India. The level of PM2.5 has increased in many cities due to traffic, industries, construction, and burning of fuels.</a:t>
            </a:r>
          </a:p>
          <a:p>
            <a:pPr algn="l">
              <a:lnSpc>
                <a:spcPts val="4205"/>
              </a:lnSpc>
            </a:pPr>
            <a:r>
              <a:rPr lang="en-US" sz="3004">
                <a:solidFill>
                  <a:srgbClr val="4B581A"/>
                </a:solidFill>
                <a:latin typeface="JA Jayagiri Sans"/>
                <a:ea typeface="JA Jayagiri Sans"/>
                <a:cs typeface="JA Jayagiri Sans"/>
                <a:sym typeface="JA Jayagiri Sans"/>
              </a:rPr>
              <a:t>2. Health and Environmental Impact</a:t>
            </a:r>
          </a:p>
          <a:p>
            <a:pPr algn="l">
              <a:lnSpc>
                <a:spcPts val="4205"/>
              </a:lnSpc>
            </a:pPr>
            <a:r>
              <a:rPr lang="en-US" sz="3004">
                <a:solidFill>
                  <a:srgbClr val="4B581A"/>
                </a:solidFill>
                <a:latin typeface="JA Jayagiri Sans"/>
                <a:ea typeface="JA Jayagiri Sans"/>
                <a:cs typeface="JA Jayagiri Sans"/>
                <a:sym typeface="JA Jayagiri Sans"/>
              </a:rPr>
              <a:t>High PM2.5 levels can cause breathing problems, heart diseases, and other health issues. Air pollution also affects the environment, reduces visibility, and lowers the quality of life.</a:t>
            </a:r>
          </a:p>
          <a:p>
            <a:pPr algn="l">
              <a:lnSpc>
                <a:spcPts val="4205"/>
              </a:lnSpc>
            </a:pPr>
            <a:r>
              <a:rPr lang="en-US" sz="3004">
                <a:solidFill>
                  <a:srgbClr val="4B581A"/>
                </a:solidFill>
                <a:latin typeface="JA Jayagiri Sans"/>
                <a:ea typeface="JA Jayagiri Sans"/>
                <a:cs typeface="JA Jayagiri Sans"/>
                <a:sym typeface="JA Jayagiri Sans"/>
              </a:rPr>
              <a:t>3. Need for Data Analysis</a:t>
            </a:r>
          </a:p>
          <a:p>
            <a:pPr algn="l">
              <a:lnSpc>
                <a:spcPts val="4205"/>
              </a:lnSpc>
            </a:pPr>
            <a:r>
              <a:rPr lang="en-US" sz="3004">
                <a:solidFill>
                  <a:srgbClr val="4B581A"/>
                </a:solidFill>
                <a:latin typeface="JA Jayagiri Sans"/>
                <a:ea typeface="JA Jayagiri Sans"/>
                <a:cs typeface="JA Jayagiri Sans"/>
                <a:sym typeface="JA Jayagiri Sans"/>
              </a:rPr>
              <a:t>There is a need to analyze air quality data to understand pollution trends, identify high pollution periods, and support better environmental planning and decision-making.</a:t>
            </a:r>
          </a:p>
          <a:p>
            <a:pPr algn="l">
              <a:lnSpc>
                <a:spcPts val="420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550133" y="-578805"/>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2545250" y="5535346"/>
            <a:ext cx="7147901" cy="6495655"/>
          </a:xfrm>
          <a:custGeom>
            <a:avLst/>
            <a:gdLst/>
            <a:ahLst/>
            <a:cxnLst/>
            <a:rect r="r" b="b" t="t" l="l"/>
            <a:pathLst>
              <a:path h="6495655" w="7147901">
                <a:moveTo>
                  <a:pt x="0" y="0"/>
                </a:moveTo>
                <a:lnTo>
                  <a:pt x="7147900" y="0"/>
                </a:lnTo>
                <a:lnTo>
                  <a:pt x="7147900"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148290" y="1600359"/>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Project Objectives</a:t>
            </a:r>
          </a:p>
        </p:txBody>
      </p:sp>
      <p:sp>
        <p:nvSpPr>
          <p:cNvPr name="TextBox 11" id="11"/>
          <p:cNvSpPr txBox="true"/>
          <p:nvPr/>
        </p:nvSpPr>
        <p:spPr>
          <a:xfrm rot="0">
            <a:off x="3920367" y="3092985"/>
            <a:ext cx="10666527" cy="7194015"/>
          </a:xfrm>
          <a:prstGeom prst="rect">
            <a:avLst/>
          </a:prstGeom>
        </p:spPr>
        <p:txBody>
          <a:bodyPr anchor="t" rtlCol="false" tIns="0" lIns="0" bIns="0" rIns="0">
            <a:spAutoFit/>
          </a:bodyPr>
          <a:lstStyle/>
          <a:p>
            <a:pPr algn="just">
              <a:lnSpc>
                <a:spcPts val="4054"/>
              </a:lnSpc>
            </a:pPr>
            <a:r>
              <a:rPr lang="en-US" sz="2896">
                <a:solidFill>
                  <a:srgbClr val="788838"/>
                </a:solidFill>
                <a:latin typeface="JA Jayagiri Sans"/>
                <a:ea typeface="JA Jayagiri Sans"/>
                <a:cs typeface="JA Jayagiri Sans"/>
                <a:sym typeface="JA Jayagiri Sans"/>
              </a:rPr>
              <a:t>1.</a:t>
            </a:r>
            <a:r>
              <a:rPr lang="en-US" sz="2896">
                <a:solidFill>
                  <a:srgbClr val="455111"/>
                </a:solidFill>
                <a:latin typeface="JA Jayagiri Sans"/>
                <a:ea typeface="JA Jayagiri Sans"/>
                <a:cs typeface="JA Jayagiri Sans"/>
                <a:sym typeface="JA Jayagiri Sans"/>
              </a:rPr>
              <a:t> Analyze Air Quality Dataset</a:t>
            </a:r>
          </a:p>
          <a:p>
            <a:pPr algn="just">
              <a:lnSpc>
                <a:spcPts val="4054"/>
              </a:lnSpc>
            </a:pPr>
            <a:r>
              <a:rPr lang="en-US" sz="2896">
                <a:solidFill>
                  <a:srgbClr val="788838"/>
                </a:solidFill>
                <a:latin typeface="JA Jayagiri Sans"/>
                <a:ea typeface="JA Jayagiri Sans"/>
                <a:cs typeface="JA Jayagiri Sans"/>
                <a:sym typeface="JA Jayagiri Sans"/>
              </a:rPr>
              <a:t>Load, explore, and examine the air quality dataset to understand its structure, PM2.5 values, and overall data quality.</a:t>
            </a:r>
          </a:p>
          <a:p>
            <a:pPr algn="just">
              <a:lnSpc>
                <a:spcPts val="4054"/>
              </a:lnSpc>
            </a:pPr>
            <a:r>
              <a:rPr lang="en-US" sz="2896">
                <a:solidFill>
                  <a:srgbClr val="788838"/>
                </a:solidFill>
                <a:latin typeface="JA Jayagiri Sans"/>
                <a:ea typeface="JA Jayagiri Sans"/>
                <a:cs typeface="JA Jayagiri Sans"/>
                <a:sym typeface="JA Jayagiri Sans"/>
              </a:rPr>
              <a:t>2. Identify Pollution Trends</a:t>
            </a:r>
          </a:p>
          <a:p>
            <a:pPr algn="just">
              <a:lnSpc>
                <a:spcPts val="4054"/>
              </a:lnSpc>
            </a:pPr>
            <a:r>
              <a:rPr lang="en-US" sz="2896">
                <a:solidFill>
                  <a:srgbClr val="788838"/>
                </a:solidFill>
                <a:latin typeface="JA Jayagiri Sans"/>
                <a:ea typeface="JA Jayagiri Sans"/>
                <a:cs typeface="JA Jayagiri Sans"/>
                <a:sym typeface="JA Jayagiri Sans"/>
              </a:rPr>
              <a:t>Analyze year-wise, month-wise, day-wise, and hour-wise PM2.5 data to identify pollution trends and seasonal changes.</a:t>
            </a:r>
          </a:p>
          <a:p>
            <a:pPr algn="just">
              <a:lnSpc>
                <a:spcPts val="4054"/>
              </a:lnSpc>
            </a:pPr>
            <a:r>
              <a:rPr lang="en-US" sz="2896">
                <a:solidFill>
                  <a:srgbClr val="788838"/>
                </a:solidFill>
                <a:latin typeface="JA Jayagiri Sans"/>
                <a:ea typeface="JA Jayagiri Sans"/>
                <a:cs typeface="JA Jayagiri Sans"/>
                <a:sym typeface="JA Jayagiri Sans"/>
              </a:rPr>
              <a:t>3. Visualize and Understand Data</a:t>
            </a:r>
          </a:p>
          <a:p>
            <a:pPr algn="just">
              <a:lnSpc>
                <a:spcPts val="4054"/>
              </a:lnSpc>
            </a:pPr>
            <a:r>
              <a:rPr lang="en-US" sz="2896">
                <a:solidFill>
                  <a:srgbClr val="788838"/>
                </a:solidFill>
                <a:latin typeface="JA Jayagiri Sans"/>
                <a:ea typeface="JA Jayagiri Sans"/>
                <a:cs typeface="JA Jayagiri Sans"/>
                <a:sym typeface="JA Jayagiri Sans"/>
              </a:rPr>
              <a:t>Create charts and graphs to understand pollution patterns, detect outliers, check correlations, and support better environmental awareness and decision-making.</a:t>
            </a:r>
          </a:p>
          <a:p>
            <a:pPr algn="just">
              <a:lnSpc>
                <a:spcPts val="405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550133" y="-1090435"/>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2545250" y="5535346"/>
            <a:ext cx="7147901" cy="6495655"/>
          </a:xfrm>
          <a:custGeom>
            <a:avLst/>
            <a:gdLst/>
            <a:ahLst/>
            <a:cxnLst/>
            <a:rect r="r" b="b" t="t" l="l"/>
            <a:pathLst>
              <a:path h="6495655" w="7147901">
                <a:moveTo>
                  <a:pt x="0" y="0"/>
                </a:moveTo>
                <a:lnTo>
                  <a:pt x="7147900" y="0"/>
                </a:lnTo>
                <a:lnTo>
                  <a:pt x="7147900"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3683474" y="522889"/>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Data set Overview</a:t>
            </a:r>
          </a:p>
        </p:txBody>
      </p:sp>
      <p:sp>
        <p:nvSpPr>
          <p:cNvPr name="TextBox 11" id="11"/>
          <p:cNvSpPr txBox="true"/>
          <p:nvPr/>
        </p:nvSpPr>
        <p:spPr>
          <a:xfrm rot="0">
            <a:off x="3608144" y="2818026"/>
            <a:ext cx="11646051" cy="5752894"/>
          </a:xfrm>
          <a:prstGeom prst="rect">
            <a:avLst/>
          </a:prstGeom>
        </p:spPr>
        <p:txBody>
          <a:bodyPr anchor="t" rtlCol="false" tIns="0" lIns="0" bIns="0" rIns="0">
            <a:spAutoFit/>
          </a:bodyPr>
          <a:lstStyle/>
          <a:p>
            <a:pPr algn="just">
              <a:lnSpc>
                <a:spcPts val="6171"/>
              </a:lnSpc>
            </a:pPr>
            <a:r>
              <a:rPr lang="en-US" sz="4408">
                <a:solidFill>
                  <a:srgbClr val="4B581A"/>
                </a:solidFill>
                <a:latin typeface="JA Jayagiri Sans"/>
                <a:ea typeface="JA Jayagiri Sans"/>
                <a:cs typeface="JA Jayagiri Sans"/>
                <a:sym typeface="JA Jayagiri Sans"/>
              </a:rPr>
              <a:t>Key Columns / Features</a:t>
            </a:r>
          </a:p>
          <a:p>
            <a:pPr algn="just">
              <a:lnSpc>
                <a:spcPts val="4351"/>
              </a:lnSpc>
            </a:pPr>
            <a:r>
              <a:rPr lang="en-US" sz="3108">
                <a:solidFill>
                  <a:srgbClr val="4B581A"/>
                </a:solidFill>
                <a:latin typeface="JA Jayagiri Sans"/>
                <a:ea typeface="JA Jayagiri Sans"/>
                <a:cs typeface="JA Jayagiri Sans"/>
                <a:sym typeface="JA Jayagiri Sans"/>
              </a:rPr>
              <a:t>Year</a:t>
            </a:r>
            <a:r>
              <a:rPr lang="en-US" sz="3108">
                <a:solidFill>
                  <a:srgbClr val="4B581A"/>
                </a:solidFill>
                <a:latin typeface="JA Jayagiri Sans"/>
                <a:ea typeface="JA Jayagiri Sans"/>
                <a:cs typeface="JA Jayagiri Sans"/>
                <a:sym typeface="JA Jayagiri Sans"/>
              </a:rPr>
              <a:t> – Year when the PM2.5 data was recorded. </a:t>
            </a:r>
          </a:p>
          <a:p>
            <a:pPr algn="just">
              <a:lnSpc>
                <a:spcPts val="4351"/>
              </a:lnSpc>
            </a:pPr>
            <a:r>
              <a:rPr lang="en-US" sz="3108">
                <a:solidFill>
                  <a:srgbClr val="4B581A"/>
                </a:solidFill>
                <a:latin typeface="JA Jayagiri Sans"/>
                <a:ea typeface="JA Jayagiri Sans"/>
                <a:cs typeface="JA Jayagiri Sans"/>
                <a:sym typeface="JA Jayagiri Sans"/>
              </a:rPr>
              <a:t>Month</a:t>
            </a:r>
            <a:r>
              <a:rPr lang="en-US" sz="3108">
                <a:solidFill>
                  <a:srgbClr val="4B581A"/>
                </a:solidFill>
                <a:latin typeface="JA Jayagiri Sans"/>
                <a:ea typeface="JA Jayagiri Sans"/>
                <a:cs typeface="JA Jayagiri Sans"/>
                <a:sym typeface="JA Jayagiri Sans"/>
              </a:rPr>
              <a:t> – Month of the air quality observation. </a:t>
            </a:r>
          </a:p>
          <a:p>
            <a:pPr algn="just">
              <a:lnSpc>
                <a:spcPts val="4351"/>
              </a:lnSpc>
            </a:pPr>
            <a:r>
              <a:rPr lang="en-US" sz="3108">
                <a:solidFill>
                  <a:srgbClr val="4B581A"/>
                </a:solidFill>
                <a:latin typeface="JA Jayagiri Sans"/>
                <a:ea typeface="JA Jayagiri Sans"/>
                <a:cs typeface="JA Jayagiri Sans"/>
                <a:sym typeface="JA Jayagiri Sans"/>
              </a:rPr>
              <a:t>Day</a:t>
            </a:r>
            <a:r>
              <a:rPr lang="en-US" sz="3108">
                <a:solidFill>
                  <a:srgbClr val="4B581A"/>
                </a:solidFill>
                <a:latin typeface="JA Jayagiri Sans"/>
                <a:ea typeface="JA Jayagiri Sans"/>
                <a:cs typeface="JA Jayagiri Sans"/>
                <a:sym typeface="JA Jayagiri Sans"/>
              </a:rPr>
              <a:t> – Day on which the PM2.5 value was recorded. </a:t>
            </a:r>
          </a:p>
          <a:p>
            <a:pPr algn="just">
              <a:lnSpc>
                <a:spcPts val="4351"/>
              </a:lnSpc>
            </a:pPr>
            <a:r>
              <a:rPr lang="en-US" sz="3108">
                <a:solidFill>
                  <a:srgbClr val="4B581A"/>
                </a:solidFill>
                <a:latin typeface="JA Jayagiri Sans"/>
                <a:ea typeface="JA Jayagiri Sans"/>
                <a:cs typeface="JA Jayagiri Sans"/>
                <a:sym typeface="JA Jayagiri Sans"/>
              </a:rPr>
              <a:t>Hour</a:t>
            </a:r>
            <a:r>
              <a:rPr lang="en-US" sz="3108">
                <a:solidFill>
                  <a:srgbClr val="4B581A"/>
                </a:solidFill>
                <a:latin typeface="JA Jayagiri Sans"/>
                <a:ea typeface="JA Jayagiri Sans"/>
                <a:cs typeface="JA Jayagiri Sans"/>
                <a:sym typeface="JA Jayagiri Sans"/>
              </a:rPr>
              <a:t> – Hour of the day when the PM2.5 level was measured. </a:t>
            </a:r>
          </a:p>
          <a:p>
            <a:pPr algn="just">
              <a:lnSpc>
                <a:spcPts val="4351"/>
              </a:lnSpc>
            </a:pPr>
            <a:r>
              <a:rPr lang="en-US" sz="3108">
                <a:solidFill>
                  <a:srgbClr val="4B581A"/>
                </a:solidFill>
                <a:latin typeface="JA Jayagiri Sans"/>
                <a:ea typeface="JA Jayagiri Sans"/>
                <a:cs typeface="JA Jayagiri Sans"/>
                <a:sym typeface="JA Jayagiri Sans"/>
              </a:rPr>
              <a:t>PM2.5</a:t>
            </a:r>
            <a:r>
              <a:rPr lang="en-US" sz="3108">
                <a:solidFill>
                  <a:srgbClr val="4B581A"/>
                </a:solidFill>
                <a:latin typeface="JA Jayagiri Sans"/>
                <a:ea typeface="JA Jayagiri Sans"/>
                <a:cs typeface="JA Jayagiri Sans"/>
                <a:sym typeface="JA Jayagiri Sans"/>
              </a:rPr>
              <a:t> – Fine particulate matter (2.5 micrometers or smaller) present in the air. It is the main parameter used to measure air pollution.</a:t>
            </a:r>
          </a:p>
          <a:p>
            <a:pPr algn="just">
              <a:lnSpc>
                <a:spcPts val="4351"/>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004493" y="3099942"/>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4435460" y="116061"/>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Methodology</a:t>
            </a:r>
          </a:p>
        </p:txBody>
      </p:sp>
      <p:sp>
        <p:nvSpPr>
          <p:cNvPr name="TextBox 9" id="9"/>
          <p:cNvSpPr txBox="true"/>
          <p:nvPr/>
        </p:nvSpPr>
        <p:spPr>
          <a:xfrm rot="0">
            <a:off x="3928353" y="2727095"/>
            <a:ext cx="10431293" cy="6652948"/>
          </a:xfrm>
          <a:prstGeom prst="rect">
            <a:avLst/>
          </a:prstGeom>
        </p:spPr>
        <p:txBody>
          <a:bodyPr anchor="t" rtlCol="false" tIns="0" lIns="0" bIns="0" rIns="0">
            <a:spAutoFit/>
          </a:bodyPr>
          <a:lstStyle/>
          <a:p>
            <a:pPr algn="ctr">
              <a:lnSpc>
                <a:spcPts val="4054"/>
              </a:lnSpc>
            </a:pPr>
            <a:r>
              <a:rPr lang="en-US" sz="2896">
                <a:solidFill>
                  <a:srgbClr val="4B581A"/>
                </a:solidFill>
                <a:latin typeface="JA Jayagiri Sans"/>
                <a:ea typeface="JA Jayagiri Sans"/>
                <a:cs typeface="JA Jayagiri Sans"/>
                <a:sym typeface="JA Jayagiri Sans"/>
              </a:rPr>
              <a:t>1. Data Collection → Data Cleaning</a:t>
            </a:r>
          </a:p>
          <a:p>
            <a:pPr algn="ctr">
              <a:lnSpc>
                <a:spcPts val="4054"/>
              </a:lnSpc>
            </a:pPr>
            <a:r>
              <a:rPr lang="en-US" sz="2896">
                <a:solidFill>
                  <a:srgbClr val="4B581A"/>
                </a:solidFill>
                <a:latin typeface="JA Jayagiri Sans"/>
                <a:ea typeface="JA Jayagiri Sans"/>
                <a:cs typeface="JA Jayagiri Sans"/>
                <a:sym typeface="JA Jayagiri Sans"/>
              </a:rPr>
              <a:t>Collected the Air Quality dataset from Kaggle. Checked missing values, duplicate rows, and data types.</a:t>
            </a:r>
          </a:p>
          <a:p>
            <a:pPr algn="ctr">
              <a:lnSpc>
                <a:spcPts val="4054"/>
              </a:lnSpc>
            </a:pPr>
            <a:r>
              <a:rPr lang="en-US" sz="2896">
                <a:solidFill>
                  <a:srgbClr val="4B581A"/>
                </a:solidFill>
                <a:latin typeface="JA Jayagiri Sans"/>
                <a:ea typeface="JA Jayagiri Sans"/>
                <a:cs typeface="JA Jayagiri Sans"/>
                <a:sym typeface="JA Jayagiri Sans"/>
              </a:rPr>
              <a:t>2. Data Analysis → Visualization</a:t>
            </a:r>
          </a:p>
          <a:p>
            <a:pPr algn="ctr">
              <a:lnSpc>
                <a:spcPts val="4054"/>
              </a:lnSpc>
            </a:pPr>
            <a:r>
              <a:rPr lang="en-US" sz="2896">
                <a:solidFill>
                  <a:srgbClr val="4B581A"/>
                </a:solidFill>
                <a:latin typeface="JA Jayagiri Sans"/>
                <a:ea typeface="JA Jayagiri Sans"/>
                <a:cs typeface="JA Jayagiri Sans"/>
                <a:sym typeface="JA Jayagiri Sans"/>
              </a:rPr>
              <a:t>Analyzed PM2.5 data by year, month, day, and hour. Created line charts, bar charts, scatter plots, histograms, box plots, and heatmaps.</a:t>
            </a:r>
          </a:p>
          <a:p>
            <a:pPr algn="ctr">
              <a:lnSpc>
                <a:spcPts val="4054"/>
              </a:lnSpc>
            </a:pPr>
            <a:r>
              <a:rPr lang="en-US" sz="2896">
                <a:solidFill>
                  <a:srgbClr val="4B581A"/>
                </a:solidFill>
                <a:latin typeface="JA Jayagiri Sans"/>
                <a:ea typeface="JA Jayagiri Sans"/>
                <a:cs typeface="JA Jayagiri Sans"/>
                <a:sym typeface="JA Jayagiri Sans"/>
              </a:rPr>
              <a:t>3. Results</a:t>
            </a:r>
          </a:p>
          <a:p>
            <a:pPr algn="ctr">
              <a:lnSpc>
                <a:spcPts val="4054"/>
              </a:lnSpc>
            </a:pPr>
            <a:r>
              <a:rPr lang="en-US" sz="2896">
                <a:solidFill>
                  <a:srgbClr val="4B581A"/>
                </a:solidFill>
                <a:latin typeface="JA Jayagiri Sans"/>
                <a:ea typeface="JA Jayagiri Sans"/>
                <a:cs typeface="JA Jayagiri Sans"/>
                <a:sym typeface="JA Jayagiri Sans"/>
              </a:rPr>
              <a:t>Found pollution trends, peak pollution hours, high pollution records, and outliers. The results help understand air quality and pollution patterns.</a:t>
            </a:r>
          </a:p>
          <a:p>
            <a:pPr algn="ctr">
              <a:lnSpc>
                <a:spcPts val="4054"/>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4" id="4"/>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5" id="5"/>
          <p:cNvSpPr/>
          <p:nvPr/>
        </p:nvSpPr>
        <p:spPr>
          <a:xfrm flipH="false" flipV="false" rot="0">
            <a:off x="15353075" y="8084250"/>
            <a:ext cx="5731266" cy="5208288"/>
          </a:xfrm>
          <a:custGeom>
            <a:avLst/>
            <a:gdLst/>
            <a:ahLst/>
            <a:cxnLst/>
            <a:rect r="r" b="b" t="t" l="l"/>
            <a:pathLst>
              <a:path h="5208288" w="5731266">
                <a:moveTo>
                  <a:pt x="0" y="0"/>
                </a:moveTo>
                <a:lnTo>
                  <a:pt x="5731266" y="0"/>
                </a:lnTo>
                <a:lnTo>
                  <a:pt x="5731266" y="5208287"/>
                </a:lnTo>
                <a:lnTo>
                  <a:pt x="0" y="5208287"/>
                </a:lnTo>
                <a:lnTo>
                  <a:pt x="0" y="0"/>
                </a:lnTo>
                <a:close/>
              </a:path>
            </a:pathLst>
          </a:custGeom>
          <a:blipFill>
            <a:blip r:embed="rId4"/>
            <a:stretch>
              <a:fillRect l="0" t="0" r="0" b="0"/>
            </a:stretch>
          </a:blipFill>
        </p:spPr>
      </p:sp>
      <p:sp>
        <p:nvSpPr>
          <p:cNvPr name="Freeform 6" id="6"/>
          <p:cNvSpPr/>
          <p:nvPr/>
        </p:nvSpPr>
        <p:spPr>
          <a:xfrm flipH="false" flipV="false" rot="0">
            <a:off x="-2999611" y="-1897479"/>
            <a:ext cx="5896891" cy="5358800"/>
          </a:xfrm>
          <a:custGeom>
            <a:avLst/>
            <a:gdLst/>
            <a:ahLst/>
            <a:cxnLst/>
            <a:rect r="r" b="b" t="t" l="l"/>
            <a:pathLst>
              <a:path h="5358800" w="5896891">
                <a:moveTo>
                  <a:pt x="0" y="0"/>
                </a:moveTo>
                <a:lnTo>
                  <a:pt x="5896892" y="0"/>
                </a:lnTo>
                <a:lnTo>
                  <a:pt x="5896892" y="5358800"/>
                </a:lnTo>
                <a:lnTo>
                  <a:pt x="0" y="5358800"/>
                </a:lnTo>
                <a:lnTo>
                  <a:pt x="0" y="0"/>
                </a:lnTo>
                <a:close/>
              </a:path>
            </a:pathLst>
          </a:custGeom>
          <a:blipFill>
            <a:blip r:embed="rId4"/>
            <a:stretch>
              <a:fillRect l="0" t="0" r="0" b="0"/>
            </a:stretch>
          </a:blipFill>
        </p:spPr>
      </p:sp>
      <p:sp>
        <p:nvSpPr>
          <p:cNvPr name="Freeform 7" id="7"/>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466007" y="48611"/>
            <a:ext cx="12431219" cy="2803180"/>
          </a:xfrm>
          <a:prstGeom prst="rect">
            <a:avLst/>
          </a:prstGeom>
        </p:spPr>
        <p:txBody>
          <a:bodyPr anchor="t" rtlCol="false" tIns="0" lIns="0" bIns="0" rIns="0">
            <a:spAutoFit/>
          </a:bodyPr>
          <a:lstStyle/>
          <a:p>
            <a:pPr algn="ctr">
              <a:lnSpc>
                <a:spcPts val="10953"/>
              </a:lnSpc>
            </a:pPr>
            <a:r>
              <a:rPr lang="en-US" sz="7824">
                <a:solidFill>
                  <a:srgbClr val="788838"/>
                </a:solidFill>
                <a:latin typeface="Brasika"/>
                <a:ea typeface="Brasika"/>
                <a:cs typeface="Brasika"/>
                <a:sym typeface="Brasika"/>
              </a:rPr>
              <a:t>DATA CLEANING &amp; PREPROCESSING</a:t>
            </a:r>
          </a:p>
        </p:txBody>
      </p:sp>
      <p:sp>
        <p:nvSpPr>
          <p:cNvPr name="TextBox 10" id="10"/>
          <p:cNvSpPr txBox="true"/>
          <p:nvPr/>
        </p:nvSpPr>
        <p:spPr>
          <a:xfrm rot="0">
            <a:off x="1748691" y="2920669"/>
            <a:ext cx="7395309" cy="6552131"/>
          </a:xfrm>
          <a:prstGeom prst="rect">
            <a:avLst/>
          </a:prstGeom>
        </p:spPr>
        <p:txBody>
          <a:bodyPr anchor="t" rtlCol="false" tIns="0" lIns="0" bIns="0" rIns="0">
            <a:spAutoFit/>
          </a:bodyPr>
          <a:lstStyle/>
          <a:p>
            <a:pPr algn="just">
              <a:lnSpc>
                <a:spcPts val="5693"/>
              </a:lnSpc>
            </a:pPr>
            <a:r>
              <a:rPr lang="en-US" sz="4067">
                <a:solidFill>
                  <a:srgbClr val="4B581A"/>
                </a:solidFill>
                <a:latin typeface="JA Jayagiri Sans"/>
                <a:ea typeface="JA Jayagiri Sans"/>
                <a:cs typeface="JA Jayagiri Sans"/>
                <a:sym typeface="JA Jayagiri Sans"/>
              </a:rPr>
              <a:t>Cleaning Steps</a:t>
            </a:r>
          </a:p>
          <a:p>
            <a:pPr algn="just">
              <a:lnSpc>
                <a:spcPts val="3873"/>
              </a:lnSpc>
            </a:pPr>
            <a:r>
              <a:rPr lang="en-US" sz="2767">
                <a:solidFill>
                  <a:srgbClr val="4B581A"/>
                </a:solidFill>
                <a:latin typeface="JA Jayagiri Sans"/>
                <a:ea typeface="JA Jayagiri Sans"/>
                <a:cs typeface="JA Jayagiri Sans"/>
                <a:sym typeface="JA Jayagiri Sans"/>
              </a:rPr>
              <a:t>✔ Handling Missing Values</a:t>
            </a:r>
          </a:p>
          <a:p>
            <a:pPr algn="just" marL="597416" indent="-298708" lvl="1">
              <a:lnSpc>
                <a:spcPts val="3873"/>
              </a:lnSpc>
              <a:buFont typeface="Arial"/>
              <a:buChar char="•"/>
            </a:pPr>
            <a:r>
              <a:rPr lang="en-US" sz="2767">
                <a:solidFill>
                  <a:srgbClr val="4B581A"/>
                </a:solidFill>
                <a:latin typeface="JA Jayagiri Sans"/>
                <a:ea typeface="JA Jayagiri Sans"/>
                <a:cs typeface="JA Jayagiri Sans"/>
                <a:sym typeface="JA Jayagiri Sans"/>
              </a:rPr>
              <a:t>Checked for missing (null) values.</a:t>
            </a:r>
          </a:p>
          <a:p>
            <a:pPr algn="just" marL="597416" indent="-298708" lvl="1">
              <a:lnSpc>
                <a:spcPts val="3873"/>
              </a:lnSpc>
              <a:buFont typeface="Arial"/>
              <a:buChar char="•"/>
            </a:pPr>
            <a:r>
              <a:rPr lang="en-US" sz="2767">
                <a:solidFill>
                  <a:srgbClr val="4B581A"/>
                </a:solidFill>
                <a:latin typeface="JA Jayagiri Sans"/>
                <a:ea typeface="JA Jayagiri Sans"/>
                <a:cs typeface="JA Jayagiri Sans"/>
                <a:sym typeface="JA Jayagiri Sans"/>
              </a:rPr>
              <a:t>Confirmed the dataset was ready for analysis.</a:t>
            </a:r>
          </a:p>
          <a:p>
            <a:pPr algn="just">
              <a:lnSpc>
                <a:spcPts val="3873"/>
              </a:lnSpc>
            </a:pPr>
            <a:r>
              <a:rPr lang="en-US" sz="2767">
                <a:solidFill>
                  <a:srgbClr val="4B581A"/>
                </a:solidFill>
                <a:latin typeface="JA Jayagiri Sans"/>
                <a:ea typeface="JA Jayagiri Sans"/>
                <a:cs typeface="JA Jayagiri Sans"/>
                <a:sym typeface="JA Jayagiri Sans"/>
              </a:rPr>
              <a:t>✔ Removing Duplicates</a:t>
            </a:r>
          </a:p>
          <a:p>
            <a:pPr algn="just" marL="597416" indent="-298708" lvl="1">
              <a:lnSpc>
                <a:spcPts val="3873"/>
              </a:lnSpc>
              <a:buFont typeface="Arial"/>
              <a:buChar char="•"/>
            </a:pPr>
            <a:r>
              <a:rPr lang="en-US" sz="2767">
                <a:solidFill>
                  <a:srgbClr val="4B581A"/>
                </a:solidFill>
                <a:latin typeface="JA Jayagiri Sans"/>
                <a:ea typeface="JA Jayagiri Sans"/>
                <a:cs typeface="JA Jayagiri Sans"/>
                <a:sym typeface="JA Jayagiri Sans"/>
              </a:rPr>
              <a:t>Checked for duplicate rows.</a:t>
            </a:r>
          </a:p>
          <a:p>
            <a:pPr algn="just" marL="597416" indent="-298708" lvl="1">
              <a:lnSpc>
                <a:spcPts val="3873"/>
              </a:lnSpc>
              <a:buFont typeface="Arial"/>
              <a:buChar char="•"/>
            </a:pPr>
            <a:r>
              <a:rPr lang="en-US" sz="2767">
                <a:solidFill>
                  <a:srgbClr val="4B581A"/>
                </a:solidFill>
                <a:latin typeface="JA Jayagiri Sans"/>
                <a:ea typeface="JA Jayagiri Sans"/>
                <a:cs typeface="JA Jayagiri Sans"/>
                <a:sym typeface="JA Jayagiri Sans"/>
              </a:rPr>
              <a:t>Removed duplicate records if found.</a:t>
            </a:r>
          </a:p>
          <a:p>
            <a:pPr algn="just">
              <a:lnSpc>
                <a:spcPts val="3873"/>
              </a:lnSpc>
            </a:pPr>
            <a:r>
              <a:rPr lang="en-US" sz="2767">
                <a:solidFill>
                  <a:srgbClr val="4B581A"/>
                </a:solidFill>
                <a:latin typeface="JA Jayagiri Sans"/>
                <a:ea typeface="JA Jayagiri Sans"/>
                <a:cs typeface="JA Jayagiri Sans"/>
                <a:sym typeface="JA Jayagiri Sans"/>
              </a:rPr>
              <a:t>✔ Checking Data Types</a:t>
            </a:r>
          </a:p>
          <a:p>
            <a:pPr algn="just" marL="597416" indent="-298708" lvl="1">
              <a:lnSpc>
                <a:spcPts val="3873"/>
              </a:lnSpc>
              <a:buFont typeface="Arial"/>
              <a:buChar char="•"/>
            </a:pPr>
            <a:r>
              <a:rPr lang="en-US" sz="2767">
                <a:solidFill>
                  <a:srgbClr val="4B581A"/>
                </a:solidFill>
                <a:latin typeface="JA Jayagiri Sans"/>
                <a:ea typeface="JA Jayagiri Sans"/>
                <a:cs typeface="JA Jayagiri Sans"/>
                <a:sym typeface="JA Jayagiri Sans"/>
              </a:rPr>
              <a:t>Verified that all columns had the correct data types.</a:t>
            </a:r>
          </a:p>
          <a:p>
            <a:pPr algn="just">
              <a:lnSpc>
                <a:spcPts val="3873"/>
              </a:lnSpc>
            </a:pPr>
          </a:p>
        </p:txBody>
      </p:sp>
      <p:sp>
        <p:nvSpPr>
          <p:cNvPr name="TextBox 11" id="11"/>
          <p:cNvSpPr txBox="true"/>
          <p:nvPr/>
        </p:nvSpPr>
        <p:spPr>
          <a:xfrm rot="0">
            <a:off x="9222921" y="2939719"/>
            <a:ext cx="6674305" cy="6655510"/>
          </a:xfrm>
          <a:prstGeom prst="rect">
            <a:avLst/>
          </a:prstGeom>
        </p:spPr>
        <p:txBody>
          <a:bodyPr anchor="t" rtlCol="false" tIns="0" lIns="0" bIns="0" rIns="0">
            <a:spAutoFit/>
          </a:bodyPr>
          <a:lstStyle/>
          <a:p>
            <a:pPr algn="just">
              <a:lnSpc>
                <a:spcPts val="5245"/>
              </a:lnSpc>
            </a:pPr>
            <a:r>
              <a:rPr lang="en-US" sz="3747">
                <a:solidFill>
                  <a:srgbClr val="4B581A"/>
                </a:solidFill>
                <a:latin typeface="JA Jayagiri Sans"/>
                <a:ea typeface="JA Jayagiri Sans"/>
                <a:cs typeface="JA Jayagiri Sans"/>
                <a:sym typeface="JA Jayagiri Sans"/>
              </a:rPr>
              <a:t>Preprocessing Steps</a:t>
            </a:r>
          </a:p>
          <a:p>
            <a:pPr algn="just">
              <a:lnSpc>
                <a:spcPts val="3425"/>
              </a:lnSpc>
            </a:pPr>
            <a:r>
              <a:rPr lang="en-US" sz="2447">
                <a:solidFill>
                  <a:srgbClr val="4B581A"/>
                </a:solidFill>
                <a:latin typeface="JA Jayagiri Sans"/>
                <a:ea typeface="JA Jayagiri Sans"/>
                <a:cs typeface="JA Jayagiri Sans"/>
                <a:sym typeface="JA Jayagiri Sans"/>
              </a:rPr>
              <a:t>✔ Data Preparation</a:t>
            </a:r>
          </a:p>
          <a:p>
            <a:pPr algn="just" marL="528318" indent="-264159" lvl="1">
              <a:lnSpc>
                <a:spcPts val="3425"/>
              </a:lnSpc>
              <a:buFont typeface="Arial"/>
              <a:buChar char="•"/>
            </a:pPr>
            <a:r>
              <a:rPr lang="en-US" sz="2447">
                <a:solidFill>
                  <a:srgbClr val="4B581A"/>
                </a:solidFill>
                <a:latin typeface="JA Jayagiri Sans"/>
                <a:ea typeface="JA Jayagiri Sans"/>
                <a:cs typeface="JA Jayagiri Sans"/>
                <a:sym typeface="JA Jayagiri Sans"/>
              </a:rPr>
              <a:t>Extracted Year, Month, Day, and Hour from the date and time columns.</a:t>
            </a:r>
          </a:p>
          <a:p>
            <a:pPr algn="just">
              <a:lnSpc>
                <a:spcPts val="3425"/>
              </a:lnSpc>
            </a:pPr>
            <a:r>
              <a:rPr lang="en-US" sz="2447">
                <a:solidFill>
                  <a:srgbClr val="4B581A"/>
                </a:solidFill>
                <a:latin typeface="JA Jayagiri Sans"/>
                <a:ea typeface="JA Jayagiri Sans"/>
                <a:cs typeface="JA Jayagiri Sans"/>
                <a:sym typeface="JA Jayagiri Sans"/>
              </a:rPr>
              <a:t>✔ Data Analysis</a:t>
            </a:r>
          </a:p>
          <a:p>
            <a:pPr algn="just" marL="528318" indent="-264159" lvl="1">
              <a:lnSpc>
                <a:spcPts val="3425"/>
              </a:lnSpc>
              <a:buFont typeface="Arial"/>
              <a:buChar char="•"/>
            </a:pPr>
            <a:r>
              <a:rPr lang="en-US" sz="2447">
                <a:solidFill>
                  <a:srgbClr val="4B581A"/>
                </a:solidFill>
                <a:latin typeface="JA Jayagiri Sans"/>
                <a:ea typeface="JA Jayagiri Sans"/>
                <a:cs typeface="JA Jayagiri Sans"/>
                <a:sym typeface="JA Jayagiri Sans"/>
              </a:rPr>
              <a:t>Calculated maximum, minimum, and average PM2.5 values.</a:t>
            </a:r>
          </a:p>
          <a:p>
            <a:pPr algn="just" marL="528318" indent="-264159" lvl="1">
              <a:lnSpc>
                <a:spcPts val="3425"/>
              </a:lnSpc>
              <a:buFont typeface="Arial"/>
              <a:buChar char="•"/>
            </a:pPr>
            <a:r>
              <a:rPr lang="en-US" sz="2447">
                <a:solidFill>
                  <a:srgbClr val="4B581A"/>
                </a:solidFill>
                <a:latin typeface="JA Jayagiri Sans"/>
                <a:ea typeface="JA Jayagiri Sans"/>
                <a:cs typeface="JA Jayagiri Sans"/>
                <a:sym typeface="JA Jayagiri Sans"/>
              </a:rPr>
              <a:t>Performed year-wise, month-wise, day-wise, and hour-wise analysis.</a:t>
            </a:r>
          </a:p>
          <a:p>
            <a:pPr algn="just">
              <a:lnSpc>
                <a:spcPts val="3425"/>
              </a:lnSpc>
            </a:pPr>
            <a:r>
              <a:rPr lang="en-US" sz="2447">
                <a:solidFill>
                  <a:srgbClr val="4B581A"/>
                </a:solidFill>
                <a:latin typeface="JA Jayagiri Sans"/>
                <a:ea typeface="JA Jayagiri Sans"/>
                <a:cs typeface="JA Jayagiri Sans"/>
                <a:sym typeface="JA Jayagiri Sans"/>
              </a:rPr>
              <a:t>✔ Final Dataset Check</a:t>
            </a:r>
          </a:p>
          <a:p>
            <a:pPr algn="just" marL="528318" indent="-264159" lvl="1">
              <a:lnSpc>
                <a:spcPts val="3425"/>
              </a:lnSpc>
              <a:buFont typeface="Arial"/>
              <a:buChar char="•"/>
            </a:pPr>
            <a:r>
              <a:rPr lang="en-US" sz="2447">
                <a:solidFill>
                  <a:srgbClr val="4B581A"/>
                </a:solidFill>
                <a:latin typeface="JA Jayagiri Sans"/>
                <a:ea typeface="JA Jayagiri Sans"/>
                <a:cs typeface="JA Jayagiri Sans"/>
                <a:sym typeface="JA Jayagiri Sans"/>
              </a:rPr>
              <a:t>Confirmed the dataset was clean and ready for visualization and analysis</a:t>
            </a:r>
          </a:p>
          <a:p>
            <a:pPr algn="just">
              <a:lnSpc>
                <a:spcPts val="342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550133" y="-578805"/>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2545250" y="6787123"/>
            <a:ext cx="5770429" cy="5243878"/>
          </a:xfrm>
          <a:custGeom>
            <a:avLst/>
            <a:gdLst/>
            <a:ahLst/>
            <a:cxnLst/>
            <a:rect r="r" b="b" t="t" l="l"/>
            <a:pathLst>
              <a:path h="5243878" w="5770429">
                <a:moveTo>
                  <a:pt x="0" y="0"/>
                </a:moveTo>
                <a:lnTo>
                  <a:pt x="5770429" y="0"/>
                </a:lnTo>
                <a:lnTo>
                  <a:pt x="5770429" y="5243878"/>
                </a:lnTo>
                <a:lnTo>
                  <a:pt x="0" y="5243878"/>
                </a:lnTo>
                <a:lnTo>
                  <a:pt x="0" y="0"/>
                </a:lnTo>
                <a:close/>
              </a:path>
            </a:pathLst>
          </a:custGeom>
          <a:blipFill>
            <a:blip r:embed="rId4"/>
            <a:stretch>
              <a:fillRect l="0" t="0" r="0" b="0"/>
            </a:stretch>
          </a:blipFill>
        </p:spPr>
      </p:sp>
      <p:sp>
        <p:nvSpPr>
          <p:cNvPr name="Freeform 8" id="8"/>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062067" y="71570"/>
            <a:ext cx="10514859" cy="2801089"/>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 EXPLORATORY DATA ANALYSIS</a:t>
            </a:r>
          </a:p>
        </p:txBody>
      </p:sp>
      <p:sp>
        <p:nvSpPr>
          <p:cNvPr name="TextBox 10" id="10"/>
          <p:cNvSpPr txBox="true"/>
          <p:nvPr/>
        </p:nvSpPr>
        <p:spPr>
          <a:xfrm rot="0">
            <a:off x="3092983" y="3077238"/>
            <a:ext cx="14118692" cy="4714348"/>
          </a:xfrm>
          <a:prstGeom prst="rect">
            <a:avLst/>
          </a:prstGeom>
        </p:spPr>
        <p:txBody>
          <a:bodyPr anchor="t" rtlCol="false" tIns="0" lIns="0" bIns="0" rIns="0">
            <a:spAutoFit/>
          </a:bodyPr>
          <a:lstStyle/>
          <a:p>
            <a:pPr algn="just">
              <a:lnSpc>
                <a:spcPts val="4789"/>
              </a:lnSpc>
            </a:pPr>
            <a:r>
              <a:rPr lang="en-US" sz="3420">
                <a:solidFill>
                  <a:srgbClr val="4B581A"/>
                </a:solidFill>
                <a:latin typeface="JA Jayagiri Sans"/>
                <a:ea typeface="JA Jayagiri Sans"/>
                <a:cs typeface="JA Jayagiri Sans"/>
                <a:sym typeface="JA Jayagiri Sans"/>
              </a:rPr>
              <a:t>EDA Techniques Applied</a:t>
            </a:r>
          </a:p>
          <a:p>
            <a:pPr algn="just" marL="565824" indent="-282912" lvl="1">
              <a:lnSpc>
                <a:spcPts val="3669"/>
              </a:lnSpc>
              <a:buFont typeface="Arial"/>
              <a:buChar char="•"/>
            </a:pPr>
            <a:r>
              <a:rPr lang="en-US" sz="2620">
                <a:solidFill>
                  <a:srgbClr val="4B581A"/>
                </a:solidFill>
                <a:latin typeface="JA Jayagiri Sans"/>
                <a:ea typeface="JA Jayagiri Sans"/>
                <a:cs typeface="JA Jayagiri Sans"/>
                <a:sym typeface="JA Jayagiri Sans"/>
              </a:rPr>
              <a:t>Filtering – Selected PM2.5 data for analysis.</a:t>
            </a:r>
          </a:p>
          <a:p>
            <a:pPr algn="just" marL="565824" indent="-282912" lvl="1">
              <a:lnSpc>
                <a:spcPts val="3669"/>
              </a:lnSpc>
              <a:buFont typeface="Arial"/>
              <a:buChar char="•"/>
            </a:pPr>
            <a:r>
              <a:rPr lang="en-US" sz="2620">
                <a:solidFill>
                  <a:srgbClr val="4B581A"/>
                </a:solidFill>
                <a:latin typeface="JA Jayagiri Sans"/>
                <a:ea typeface="JA Jayagiri Sans"/>
                <a:cs typeface="JA Jayagiri Sans"/>
                <a:sym typeface="JA Jayagiri Sans"/>
              </a:rPr>
              <a:t>Sorting – Arranged PM2.5 values to find maximum and minimum values.</a:t>
            </a:r>
          </a:p>
          <a:p>
            <a:pPr algn="just" marL="565824" indent="-282912" lvl="1">
              <a:lnSpc>
                <a:spcPts val="3669"/>
              </a:lnSpc>
              <a:buFont typeface="Arial"/>
              <a:buChar char="•"/>
            </a:pPr>
            <a:r>
              <a:rPr lang="en-US" sz="2620">
                <a:solidFill>
                  <a:srgbClr val="4B581A"/>
                </a:solidFill>
                <a:latin typeface="JA Jayagiri Sans"/>
                <a:ea typeface="JA Jayagiri Sans"/>
                <a:cs typeface="JA Jayagiri Sans"/>
                <a:sym typeface="JA Jayagiri Sans"/>
              </a:rPr>
              <a:t>Grouping – Grouped data by Year, Month, Day, and Hour using groupby().</a:t>
            </a:r>
          </a:p>
          <a:p>
            <a:pPr algn="just" marL="565824" indent="-282912" lvl="1">
              <a:lnSpc>
                <a:spcPts val="3669"/>
              </a:lnSpc>
              <a:buFont typeface="Arial"/>
              <a:buChar char="•"/>
            </a:pPr>
            <a:r>
              <a:rPr lang="en-US" sz="2620">
                <a:solidFill>
                  <a:srgbClr val="4B581A"/>
                </a:solidFill>
                <a:latin typeface="JA Jayagiri Sans"/>
                <a:ea typeface="JA Jayagiri Sans"/>
                <a:cs typeface="JA Jayagiri Sans"/>
                <a:sym typeface="JA Jayagiri Sans"/>
              </a:rPr>
              <a:t>Statistical Analysis – Calculated average, maximum, minimum, and summary statistics.</a:t>
            </a:r>
          </a:p>
          <a:p>
            <a:pPr algn="just" marL="565824" indent="-282912" lvl="1">
              <a:lnSpc>
                <a:spcPts val="3669"/>
              </a:lnSpc>
              <a:buFont typeface="Arial"/>
              <a:buChar char="•"/>
            </a:pPr>
            <a:r>
              <a:rPr lang="en-US" sz="2620">
                <a:solidFill>
                  <a:srgbClr val="4B581A"/>
                </a:solidFill>
                <a:latin typeface="JA Jayagiri Sans"/>
                <a:ea typeface="JA Jayagiri Sans"/>
                <a:cs typeface="JA Jayagiri Sans"/>
                <a:sym typeface="JA Jayagiri Sans"/>
              </a:rPr>
              <a:t>Trend Analysis – Analyzed year-wise, month-wise, day-wise, and hour-wise PM2.5 trends.</a:t>
            </a:r>
          </a:p>
          <a:p>
            <a:pPr algn="just">
              <a:lnSpc>
                <a:spcPts val="3669"/>
              </a:lnSpc>
            </a:pPr>
            <a:r>
              <a:rPr lang="en-US" sz="2620">
                <a:solidFill>
                  <a:srgbClr val="4B581A"/>
                </a:solidFill>
                <a:latin typeface="JA Jayagiri Sans"/>
                <a:ea typeface="JA Jayagiri Sans"/>
                <a:cs typeface="JA Jayagiri Sans"/>
                <a:sym typeface="JA Jayagiri Sans"/>
              </a:rPr>
              <a:t>Tools Used: Python, Pandas, Matplotlib, and Seaborn.</a:t>
            </a:r>
          </a:p>
          <a:p>
            <a:pPr algn="just">
              <a:lnSpc>
                <a:spcPts val="366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004493" y="3099942"/>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3859585" y="6727040"/>
            <a:ext cx="7224756" cy="6565497"/>
          </a:xfrm>
          <a:custGeom>
            <a:avLst/>
            <a:gdLst/>
            <a:ahLst/>
            <a:cxnLst/>
            <a:rect r="r" b="b" t="t" l="l"/>
            <a:pathLst>
              <a:path h="6565497" w="7224756">
                <a:moveTo>
                  <a:pt x="0" y="0"/>
                </a:moveTo>
                <a:lnTo>
                  <a:pt x="7224756" y="0"/>
                </a:lnTo>
                <a:lnTo>
                  <a:pt x="7224756" y="6565497"/>
                </a:lnTo>
                <a:lnTo>
                  <a:pt x="0" y="6565497"/>
                </a:lnTo>
                <a:lnTo>
                  <a:pt x="0" y="0"/>
                </a:lnTo>
                <a:close/>
              </a:path>
            </a:pathLst>
          </a:custGeom>
          <a:blipFill>
            <a:blip r:embed="rId4"/>
            <a:stretch>
              <a:fillRect l="0" t="0" r="0" b="0"/>
            </a:stretch>
          </a:blipFill>
        </p:spPr>
      </p:sp>
      <p:sp>
        <p:nvSpPr>
          <p:cNvPr name="Freeform 7" id="7"/>
          <p:cNvSpPr/>
          <p:nvPr/>
        </p:nvSpPr>
        <p:spPr>
          <a:xfrm flipH="false" flipV="false" rot="0">
            <a:off x="-2999611" y="-1897479"/>
            <a:ext cx="7147901" cy="6495655"/>
          </a:xfrm>
          <a:custGeom>
            <a:avLst/>
            <a:gdLst/>
            <a:ahLst/>
            <a:cxnLst/>
            <a:rect r="r" b="b" t="t" l="l"/>
            <a:pathLst>
              <a:path h="6495655" w="7147901">
                <a:moveTo>
                  <a:pt x="0" y="0"/>
                </a:moveTo>
                <a:lnTo>
                  <a:pt x="7147901" y="0"/>
                </a:lnTo>
                <a:lnTo>
                  <a:pt x="7147901"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897281" y="862915"/>
            <a:ext cx="15048764" cy="1156436"/>
          </a:xfrm>
          <a:prstGeom prst="rect">
            <a:avLst/>
          </a:prstGeom>
        </p:spPr>
        <p:txBody>
          <a:bodyPr anchor="t" rtlCol="false" tIns="0" lIns="0" bIns="0" rIns="0">
            <a:spAutoFit/>
          </a:bodyPr>
          <a:lstStyle/>
          <a:p>
            <a:pPr algn="ctr">
              <a:lnSpc>
                <a:spcPts val="8994"/>
              </a:lnSpc>
            </a:pPr>
            <a:r>
              <a:rPr lang="en-US" sz="6424">
                <a:solidFill>
                  <a:srgbClr val="788838"/>
                </a:solidFill>
                <a:latin typeface="Brasika"/>
                <a:ea typeface="Brasika"/>
                <a:cs typeface="Brasika"/>
                <a:sym typeface="Brasika"/>
              </a:rPr>
              <a:t>ADVANTAGES OF THE PROJECT</a:t>
            </a:r>
          </a:p>
        </p:txBody>
      </p:sp>
      <p:sp>
        <p:nvSpPr>
          <p:cNvPr name="TextBox 11" id="11"/>
          <p:cNvSpPr txBox="true"/>
          <p:nvPr/>
        </p:nvSpPr>
        <p:spPr>
          <a:xfrm rot="0">
            <a:off x="3466007" y="2717570"/>
            <a:ext cx="11423041" cy="6507580"/>
          </a:xfrm>
          <a:prstGeom prst="rect">
            <a:avLst/>
          </a:prstGeom>
        </p:spPr>
        <p:txBody>
          <a:bodyPr anchor="t" rtlCol="false" tIns="0" lIns="0" bIns="0" rIns="0">
            <a:spAutoFit/>
          </a:bodyPr>
          <a:lstStyle/>
          <a:p>
            <a:pPr algn="l">
              <a:lnSpc>
                <a:spcPts val="5174"/>
              </a:lnSpc>
            </a:pPr>
            <a:r>
              <a:rPr lang="en-US" sz="3696">
                <a:solidFill>
                  <a:srgbClr val="4B581A"/>
                </a:solidFill>
                <a:latin typeface="JA Jayagiri Sans"/>
                <a:ea typeface="JA Jayagiri Sans"/>
                <a:cs typeface="JA Jayagiri Sans"/>
                <a:sym typeface="JA Jayagiri Sans"/>
              </a:rPr>
              <a:t>Identifies Air Pollution Trends</a:t>
            </a:r>
          </a:p>
          <a:p>
            <a:pPr algn="l">
              <a:lnSpc>
                <a:spcPts val="4054"/>
              </a:lnSpc>
            </a:pPr>
            <a:r>
              <a:rPr lang="en-US" sz="2896">
                <a:solidFill>
                  <a:srgbClr val="4B581A"/>
                </a:solidFill>
                <a:latin typeface="JA Jayagiri Sans"/>
                <a:ea typeface="JA Jayagiri Sans"/>
                <a:cs typeface="JA Jayagiri Sans"/>
                <a:sym typeface="JA Jayagiri Sans"/>
              </a:rPr>
              <a:t>Analyzes PM2.5 levels by year, month, day, and hour to understand how air pollution changes over time.</a:t>
            </a:r>
          </a:p>
          <a:p>
            <a:pPr algn="l">
              <a:lnSpc>
                <a:spcPts val="4894"/>
              </a:lnSpc>
            </a:pPr>
            <a:r>
              <a:rPr lang="en-US" sz="3496">
                <a:solidFill>
                  <a:srgbClr val="4B581A"/>
                </a:solidFill>
                <a:latin typeface="JA Jayagiri Sans"/>
                <a:ea typeface="JA Jayagiri Sans"/>
                <a:cs typeface="JA Jayagiri Sans"/>
                <a:sym typeface="JA Jayagiri Sans"/>
              </a:rPr>
              <a:t>Helps Environmental Decision-Making</a:t>
            </a:r>
          </a:p>
          <a:p>
            <a:pPr algn="l">
              <a:lnSpc>
                <a:spcPts val="4054"/>
              </a:lnSpc>
            </a:pPr>
            <a:r>
              <a:rPr lang="en-US" sz="2896">
                <a:solidFill>
                  <a:srgbClr val="4B581A"/>
                </a:solidFill>
                <a:latin typeface="JA Jayagiri Sans"/>
                <a:ea typeface="JA Jayagiri Sans"/>
                <a:cs typeface="JA Jayagiri Sans"/>
                <a:sym typeface="JA Jayagiri Sans"/>
              </a:rPr>
              <a:t>Provides useful information that can help researchers, government agencies, and environmental organizations understand air quality.</a:t>
            </a:r>
          </a:p>
          <a:p>
            <a:pPr algn="l">
              <a:lnSpc>
                <a:spcPts val="4894"/>
              </a:lnSpc>
            </a:pPr>
            <a:r>
              <a:rPr lang="en-US" sz="3496">
                <a:solidFill>
                  <a:srgbClr val="4B581A"/>
                </a:solidFill>
                <a:latin typeface="JA Jayagiri Sans"/>
                <a:ea typeface="JA Jayagiri Sans"/>
                <a:cs typeface="JA Jayagiri Sans"/>
                <a:sym typeface="JA Jayagiri Sans"/>
              </a:rPr>
              <a:t>Supports Public Awareness</a:t>
            </a:r>
          </a:p>
          <a:p>
            <a:pPr algn="l">
              <a:lnSpc>
                <a:spcPts val="4054"/>
              </a:lnSpc>
            </a:pPr>
            <a:r>
              <a:rPr lang="en-US" sz="2896">
                <a:solidFill>
                  <a:srgbClr val="4B581A"/>
                </a:solidFill>
                <a:latin typeface="JA Jayagiri Sans"/>
                <a:ea typeface="JA Jayagiri Sans"/>
                <a:cs typeface="JA Jayagiri Sans"/>
                <a:sym typeface="JA Jayagiri Sans"/>
              </a:rPr>
              <a:t>The results help people understand pollution levels and encourage actions to reduce air pollution and protect public health.</a:t>
            </a:r>
          </a:p>
          <a:p>
            <a:pPr algn="ctr">
              <a:lnSpc>
                <a:spcPts val="4054"/>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338266" y="3655727"/>
            <a:ext cx="2354865" cy="3632461"/>
          </a:xfrm>
          <a:custGeom>
            <a:avLst/>
            <a:gdLst/>
            <a:ahLst/>
            <a:cxnLst/>
            <a:rect r="r" b="b" t="t" l="l"/>
            <a:pathLst>
              <a:path h="3632461" w="2354865">
                <a:moveTo>
                  <a:pt x="0" y="0"/>
                </a:moveTo>
                <a:lnTo>
                  <a:pt x="2354865" y="0"/>
                </a:lnTo>
                <a:lnTo>
                  <a:pt x="2354865" y="3632461"/>
                </a:lnTo>
                <a:lnTo>
                  <a:pt x="0" y="3632461"/>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3859585" y="6727040"/>
            <a:ext cx="7224756" cy="6565497"/>
          </a:xfrm>
          <a:custGeom>
            <a:avLst/>
            <a:gdLst/>
            <a:ahLst/>
            <a:cxnLst/>
            <a:rect r="r" b="b" t="t" l="l"/>
            <a:pathLst>
              <a:path h="6565497" w="7224756">
                <a:moveTo>
                  <a:pt x="0" y="0"/>
                </a:moveTo>
                <a:lnTo>
                  <a:pt x="7224756" y="0"/>
                </a:lnTo>
                <a:lnTo>
                  <a:pt x="7224756" y="6565497"/>
                </a:lnTo>
                <a:lnTo>
                  <a:pt x="0" y="6565497"/>
                </a:lnTo>
                <a:lnTo>
                  <a:pt x="0" y="0"/>
                </a:lnTo>
                <a:close/>
              </a:path>
            </a:pathLst>
          </a:custGeom>
          <a:blipFill>
            <a:blip r:embed="rId4"/>
            <a:stretch>
              <a:fillRect l="0" t="0" r="0" b="0"/>
            </a:stretch>
          </a:blipFill>
        </p:spPr>
      </p:sp>
      <p:sp>
        <p:nvSpPr>
          <p:cNvPr name="Freeform 7" id="7"/>
          <p:cNvSpPr/>
          <p:nvPr/>
        </p:nvSpPr>
        <p:spPr>
          <a:xfrm flipH="false" flipV="false" rot="0">
            <a:off x="-2999611" y="-1897479"/>
            <a:ext cx="5756049" cy="5230809"/>
          </a:xfrm>
          <a:custGeom>
            <a:avLst/>
            <a:gdLst/>
            <a:ahLst/>
            <a:cxnLst/>
            <a:rect r="r" b="b" t="t" l="l"/>
            <a:pathLst>
              <a:path h="5230809" w="5756049">
                <a:moveTo>
                  <a:pt x="0" y="0"/>
                </a:moveTo>
                <a:lnTo>
                  <a:pt x="5756049" y="0"/>
                </a:lnTo>
                <a:lnTo>
                  <a:pt x="5756049" y="5230809"/>
                </a:lnTo>
                <a:lnTo>
                  <a:pt x="0" y="5230809"/>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2897281" y="841534"/>
            <a:ext cx="13915603" cy="1952235"/>
          </a:xfrm>
          <a:prstGeom prst="rect">
            <a:avLst/>
          </a:prstGeom>
        </p:spPr>
        <p:txBody>
          <a:bodyPr anchor="t" rtlCol="false" tIns="0" lIns="0" bIns="0" rIns="0">
            <a:spAutoFit/>
          </a:bodyPr>
          <a:lstStyle/>
          <a:p>
            <a:pPr algn="ctr">
              <a:lnSpc>
                <a:spcPts val="7657"/>
              </a:lnSpc>
            </a:pPr>
            <a:r>
              <a:rPr lang="en-US" sz="5469">
                <a:solidFill>
                  <a:srgbClr val="788838"/>
                </a:solidFill>
                <a:latin typeface="Brasika"/>
                <a:ea typeface="Brasika"/>
                <a:cs typeface="Brasika"/>
                <a:sym typeface="Brasika"/>
              </a:rPr>
              <a:t>SOFTWARE &amp; HARDWARE REQUIREMENTS</a:t>
            </a:r>
          </a:p>
        </p:txBody>
      </p:sp>
      <p:sp>
        <p:nvSpPr>
          <p:cNvPr name="TextBox 11" id="11"/>
          <p:cNvSpPr txBox="true"/>
          <p:nvPr/>
        </p:nvSpPr>
        <p:spPr>
          <a:xfrm rot="0">
            <a:off x="1325545" y="3257130"/>
            <a:ext cx="7251160" cy="6708121"/>
          </a:xfrm>
          <a:prstGeom prst="rect">
            <a:avLst/>
          </a:prstGeom>
        </p:spPr>
        <p:txBody>
          <a:bodyPr anchor="t" rtlCol="false" tIns="0" lIns="0" bIns="0" rIns="0">
            <a:spAutoFit/>
          </a:bodyPr>
          <a:lstStyle/>
          <a:p>
            <a:pPr algn="just" marL="747809" indent="-373904" lvl="1">
              <a:lnSpc>
                <a:spcPts val="4849"/>
              </a:lnSpc>
              <a:buFont typeface="Arial"/>
              <a:buChar char="•"/>
            </a:pPr>
            <a:r>
              <a:rPr lang="en-US" sz="3463">
                <a:solidFill>
                  <a:srgbClr val="4B581A"/>
                </a:solidFill>
                <a:latin typeface="JA Jayagiri Sans"/>
                <a:ea typeface="JA Jayagiri Sans"/>
                <a:cs typeface="JA Jayagiri Sans"/>
                <a:sym typeface="JA Jayagiri Sans"/>
              </a:rPr>
              <a:t>Software Requirements</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Operating System: Windows 10 / Windows 11</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Programming Language: Python 3.x</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Development Tool: Jupyter Notebook</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Platform: Anaconda Distribution</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Python Libraries: Pandas, NumPy, Matplotlib, Seaborn</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Web Browser: Google Chrome / Mozilla Firefox</a:t>
            </a:r>
          </a:p>
          <a:p>
            <a:pPr algn="just" marL="570516" indent="-285258" lvl="1">
              <a:lnSpc>
                <a:spcPts val="3699"/>
              </a:lnSpc>
              <a:buFont typeface="Arial"/>
              <a:buChar char="•"/>
            </a:pPr>
            <a:r>
              <a:rPr lang="en-US" sz="2642">
                <a:solidFill>
                  <a:srgbClr val="4B581A"/>
                </a:solidFill>
                <a:latin typeface="JA Jayagiri Sans"/>
                <a:ea typeface="JA Jayagiri Sans"/>
                <a:cs typeface="JA Jayagiri Sans"/>
                <a:sym typeface="JA Jayagiri Sans"/>
              </a:rPr>
              <a:t>Internet Connection: Required for downloading libraries and dataset</a:t>
            </a:r>
          </a:p>
          <a:p>
            <a:pPr algn="just" marL="570516" indent="-285258" lvl="1">
              <a:lnSpc>
                <a:spcPts val="3699"/>
              </a:lnSpc>
              <a:buFont typeface="Arial"/>
              <a:buChar char="•"/>
            </a:pPr>
          </a:p>
        </p:txBody>
      </p:sp>
      <p:sp>
        <p:nvSpPr>
          <p:cNvPr name="TextBox 12" id="12"/>
          <p:cNvSpPr txBox="true"/>
          <p:nvPr/>
        </p:nvSpPr>
        <p:spPr>
          <a:xfrm rot="0">
            <a:off x="9144000" y="3266655"/>
            <a:ext cx="7435509" cy="6434775"/>
          </a:xfrm>
          <a:prstGeom prst="rect">
            <a:avLst/>
          </a:prstGeom>
        </p:spPr>
        <p:txBody>
          <a:bodyPr anchor="t" rtlCol="false" tIns="0" lIns="0" bIns="0" rIns="0">
            <a:spAutoFit/>
          </a:bodyPr>
          <a:lstStyle/>
          <a:p>
            <a:pPr algn="just">
              <a:lnSpc>
                <a:spcPts val="4637"/>
              </a:lnSpc>
            </a:pPr>
            <a:r>
              <a:rPr lang="en-US" sz="3312">
                <a:solidFill>
                  <a:srgbClr val="4B581A"/>
                </a:solidFill>
                <a:latin typeface="JA Jayagiri Sans"/>
                <a:ea typeface="JA Jayagiri Sans"/>
                <a:cs typeface="JA Jayagiri Sans"/>
                <a:sym typeface="JA Jayagiri Sans"/>
              </a:rPr>
              <a:t>Hardware Requirements</a:t>
            </a:r>
          </a:p>
          <a:p>
            <a:pPr algn="just" marL="650381" indent="-325191" lvl="1">
              <a:lnSpc>
                <a:spcPts val="4217"/>
              </a:lnSpc>
              <a:buFont typeface="Arial"/>
              <a:buChar char="•"/>
            </a:pPr>
            <a:r>
              <a:rPr lang="en-US" sz="3012">
                <a:solidFill>
                  <a:srgbClr val="4B581A"/>
                </a:solidFill>
                <a:latin typeface="JA Jayagiri Sans"/>
                <a:ea typeface="JA Jayagiri Sans"/>
                <a:cs typeface="JA Jayagiri Sans"/>
                <a:sym typeface="JA Jayagiri Sans"/>
              </a:rPr>
              <a:t>Processor: Intel Core i3 / Intel Core i5 (or equivalent)</a:t>
            </a:r>
          </a:p>
          <a:p>
            <a:pPr algn="just" marL="650381" indent="-325191" lvl="1">
              <a:lnSpc>
                <a:spcPts val="4217"/>
              </a:lnSpc>
              <a:buFont typeface="Arial"/>
              <a:buChar char="•"/>
            </a:pPr>
            <a:r>
              <a:rPr lang="en-US" sz="3012">
                <a:solidFill>
                  <a:srgbClr val="4B581A"/>
                </a:solidFill>
                <a:latin typeface="JA Jayagiri Sans"/>
                <a:ea typeface="JA Jayagiri Sans"/>
                <a:cs typeface="JA Jayagiri Sans"/>
                <a:sym typeface="JA Jayagiri Sans"/>
              </a:rPr>
              <a:t>RAM: Minimum 4 GB (8 GB recommended)</a:t>
            </a:r>
          </a:p>
          <a:p>
            <a:pPr algn="just" marL="650381" indent="-325191" lvl="1">
              <a:lnSpc>
                <a:spcPts val="4217"/>
              </a:lnSpc>
              <a:buFont typeface="Arial"/>
              <a:buChar char="•"/>
            </a:pPr>
            <a:r>
              <a:rPr lang="en-US" sz="3012">
                <a:solidFill>
                  <a:srgbClr val="4B581A"/>
                </a:solidFill>
                <a:latin typeface="JA Jayagiri Sans"/>
                <a:ea typeface="JA Jayagiri Sans"/>
                <a:cs typeface="JA Jayagiri Sans"/>
                <a:sym typeface="JA Jayagiri Sans"/>
              </a:rPr>
              <a:t>Storage: 20 GB or more free disk space</a:t>
            </a:r>
          </a:p>
          <a:p>
            <a:pPr algn="just" marL="650381" indent="-325191" lvl="1">
              <a:lnSpc>
                <a:spcPts val="4217"/>
              </a:lnSpc>
              <a:buFont typeface="Arial"/>
              <a:buChar char="•"/>
            </a:pPr>
            <a:r>
              <a:rPr lang="en-US" sz="3012">
                <a:solidFill>
                  <a:srgbClr val="4B581A"/>
                </a:solidFill>
                <a:latin typeface="JA Jayagiri Sans"/>
                <a:ea typeface="JA Jayagiri Sans"/>
                <a:cs typeface="JA Jayagiri Sans"/>
                <a:sym typeface="JA Jayagiri Sans"/>
              </a:rPr>
              <a:t>Display: 1280 × 720 resolution or higher</a:t>
            </a:r>
          </a:p>
          <a:p>
            <a:pPr algn="just" marL="650381" indent="-325191" lvl="1">
              <a:lnSpc>
                <a:spcPts val="4217"/>
              </a:lnSpc>
              <a:buFont typeface="Arial"/>
              <a:buChar char="•"/>
            </a:pPr>
            <a:r>
              <a:rPr lang="en-US" sz="3012">
                <a:solidFill>
                  <a:srgbClr val="4B581A"/>
                </a:solidFill>
                <a:latin typeface="JA Jayagiri Sans"/>
                <a:ea typeface="JA Jayagiri Sans"/>
                <a:cs typeface="JA Jayagiri Sans"/>
                <a:sym typeface="JA Jayagiri Sans"/>
              </a:rPr>
              <a:t>Input Devices: Standard Keyboard and Mouse</a:t>
            </a:r>
          </a:p>
          <a:p>
            <a:pPr algn="just">
              <a:lnSpc>
                <a:spcPts val="4217"/>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550133" y="-578805"/>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2545250" y="7538907"/>
            <a:ext cx="4943157" cy="4492094"/>
          </a:xfrm>
          <a:custGeom>
            <a:avLst/>
            <a:gdLst/>
            <a:ahLst/>
            <a:cxnLst/>
            <a:rect r="r" b="b" t="t" l="l"/>
            <a:pathLst>
              <a:path h="4492094" w="4943157">
                <a:moveTo>
                  <a:pt x="0" y="0"/>
                </a:moveTo>
                <a:lnTo>
                  <a:pt x="4943157" y="0"/>
                </a:lnTo>
                <a:lnTo>
                  <a:pt x="4943157" y="4492094"/>
                </a:lnTo>
                <a:lnTo>
                  <a:pt x="0" y="4492094"/>
                </a:lnTo>
                <a:lnTo>
                  <a:pt x="0" y="0"/>
                </a:lnTo>
                <a:close/>
              </a:path>
            </a:pathLst>
          </a:custGeom>
          <a:blipFill>
            <a:blip r:embed="rId4"/>
            <a:stretch>
              <a:fillRect l="0" t="0" r="0" b="0"/>
            </a:stretch>
          </a:blipFill>
        </p:spPr>
      </p:sp>
      <p:sp>
        <p:nvSpPr>
          <p:cNvPr name="Freeform 8" id="8"/>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3202582" y="4071753"/>
            <a:ext cx="5041073" cy="4200894"/>
          </a:xfrm>
          <a:custGeom>
            <a:avLst/>
            <a:gdLst/>
            <a:ahLst/>
            <a:cxnLst/>
            <a:rect r="r" b="b" t="t" l="l"/>
            <a:pathLst>
              <a:path h="4200894" w="5041073">
                <a:moveTo>
                  <a:pt x="0" y="0"/>
                </a:moveTo>
                <a:lnTo>
                  <a:pt x="5041073" y="0"/>
                </a:lnTo>
                <a:lnTo>
                  <a:pt x="5041073" y="4200894"/>
                </a:lnTo>
                <a:lnTo>
                  <a:pt x="0" y="4200894"/>
                </a:lnTo>
                <a:lnTo>
                  <a:pt x="0" y="0"/>
                </a:lnTo>
                <a:close/>
              </a:path>
            </a:pathLst>
          </a:custGeom>
          <a:blipFill>
            <a:blip r:embed="rId7"/>
            <a:stretch>
              <a:fillRect l="0" t="0" r="0" b="0"/>
            </a:stretch>
          </a:blipFill>
        </p:spPr>
      </p:sp>
      <p:sp>
        <p:nvSpPr>
          <p:cNvPr name="TextBox 11" id="11"/>
          <p:cNvSpPr txBox="true"/>
          <p:nvPr/>
        </p:nvSpPr>
        <p:spPr>
          <a:xfrm rot="0">
            <a:off x="3393838" y="1436505"/>
            <a:ext cx="12554886" cy="978953"/>
          </a:xfrm>
          <a:prstGeom prst="rect">
            <a:avLst/>
          </a:prstGeom>
        </p:spPr>
        <p:txBody>
          <a:bodyPr anchor="t" rtlCol="false" tIns="0" lIns="0" bIns="0" rIns="0">
            <a:spAutoFit/>
          </a:bodyPr>
          <a:lstStyle/>
          <a:p>
            <a:pPr algn="ctr">
              <a:lnSpc>
                <a:spcPts val="7621"/>
              </a:lnSpc>
            </a:pPr>
            <a:r>
              <a:rPr lang="en-US" sz="5443">
                <a:solidFill>
                  <a:srgbClr val="788838"/>
                </a:solidFill>
                <a:latin typeface="Brasika"/>
                <a:ea typeface="Brasika"/>
                <a:cs typeface="Brasika"/>
                <a:sym typeface="Brasika"/>
              </a:rPr>
              <a:t>LIBRARIES USED – PANDAS</a:t>
            </a:r>
          </a:p>
        </p:txBody>
      </p:sp>
      <p:sp>
        <p:nvSpPr>
          <p:cNvPr name="TextBox 12" id="12"/>
          <p:cNvSpPr txBox="true"/>
          <p:nvPr/>
        </p:nvSpPr>
        <p:spPr>
          <a:xfrm rot="0">
            <a:off x="2109937" y="3539507"/>
            <a:ext cx="10829818" cy="6470282"/>
          </a:xfrm>
          <a:prstGeom prst="rect">
            <a:avLst/>
          </a:prstGeom>
        </p:spPr>
        <p:txBody>
          <a:bodyPr anchor="t" rtlCol="false" tIns="0" lIns="0" bIns="0" rIns="0">
            <a:spAutoFit/>
          </a:bodyPr>
          <a:lstStyle/>
          <a:p>
            <a:pPr algn="just">
              <a:lnSpc>
                <a:spcPts val="3642"/>
              </a:lnSpc>
            </a:pPr>
            <a:r>
              <a:rPr lang="en-US" sz="2601">
                <a:solidFill>
                  <a:srgbClr val="4B581A"/>
                </a:solidFill>
                <a:latin typeface="JA Jayagiri Sans"/>
                <a:ea typeface="JA Jayagiri Sans"/>
                <a:cs typeface="JA Jayagiri Sans"/>
                <a:sym typeface="JA Jayagiri Sans"/>
              </a:rPr>
              <a:t>What is Pandas?</a:t>
            </a:r>
          </a:p>
          <a:p>
            <a:pPr algn="just">
              <a:lnSpc>
                <a:spcPts val="3642"/>
              </a:lnSpc>
            </a:pPr>
            <a:r>
              <a:rPr lang="en-US" sz="2601">
                <a:solidFill>
                  <a:srgbClr val="4B581A"/>
                </a:solidFill>
                <a:latin typeface="JA Jayagiri Sans"/>
                <a:ea typeface="JA Jayagiri Sans"/>
                <a:cs typeface="JA Jayagiri Sans"/>
                <a:sym typeface="JA Jayagiri Sans"/>
              </a:rPr>
              <a:t>Pandas is an open-source Python library used for data analysis and manipulation. It helps to read, clean, organize, and analyze data easily.</a:t>
            </a:r>
          </a:p>
          <a:p>
            <a:pPr algn="just">
              <a:lnSpc>
                <a:spcPts val="3642"/>
              </a:lnSpc>
            </a:pPr>
            <a:r>
              <a:rPr lang="en-US" sz="2601">
                <a:solidFill>
                  <a:srgbClr val="4B581A"/>
                </a:solidFill>
                <a:latin typeface="JA Jayagiri Sans"/>
                <a:ea typeface="JA Jayagiri Sans"/>
                <a:cs typeface="JA Jayagiri Sans"/>
                <a:sym typeface="JA Jayagiri Sans"/>
              </a:rPr>
              <a:t>Uses of Pandas</a:t>
            </a:r>
          </a:p>
          <a:p>
            <a:pPr algn="just" marL="561771" indent="-280885" lvl="1">
              <a:lnSpc>
                <a:spcPts val="3642"/>
              </a:lnSpc>
              <a:buFont typeface="Arial"/>
              <a:buChar char="•"/>
            </a:pPr>
            <a:r>
              <a:rPr lang="en-US" sz="2601">
                <a:solidFill>
                  <a:srgbClr val="4B581A"/>
                </a:solidFill>
                <a:latin typeface="JA Jayagiri Sans"/>
                <a:ea typeface="JA Jayagiri Sans"/>
                <a:cs typeface="JA Jayagiri Sans"/>
                <a:sym typeface="JA Jayagiri Sans"/>
              </a:rPr>
              <a:t>Data Loading – Read CSV files into a DataFrame.</a:t>
            </a:r>
          </a:p>
          <a:p>
            <a:pPr algn="just" marL="561771" indent="-280885" lvl="1">
              <a:lnSpc>
                <a:spcPts val="3642"/>
              </a:lnSpc>
              <a:buFont typeface="Arial"/>
              <a:buChar char="•"/>
            </a:pPr>
            <a:r>
              <a:rPr lang="en-US" sz="2601">
                <a:solidFill>
                  <a:srgbClr val="4B581A"/>
                </a:solidFill>
                <a:latin typeface="JA Jayagiri Sans"/>
                <a:ea typeface="JA Jayagiri Sans"/>
                <a:cs typeface="JA Jayagiri Sans"/>
                <a:sym typeface="JA Jayagiri Sans"/>
              </a:rPr>
              <a:t>Data Cleaning – Check missing values and remove duplicate rows.</a:t>
            </a:r>
          </a:p>
          <a:p>
            <a:pPr algn="just" marL="561771" indent="-280885" lvl="1">
              <a:lnSpc>
                <a:spcPts val="3642"/>
              </a:lnSpc>
              <a:buFont typeface="Arial"/>
              <a:buChar char="•"/>
            </a:pPr>
            <a:r>
              <a:rPr lang="en-US" sz="2601">
                <a:solidFill>
                  <a:srgbClr val="4B581A"/>
                </a:solidFill>
                <a:latin typeface="JA Jayagiri Sans"/>
                <a:ea typeface="JA Jayagiri Sans"/>
                <a:cs typeface="JA Jayagiri Sans"/>
                <a:sym typeface="JA Jayagiri Sans"/>
              </a:rPr>
              <a:t>Data Analysis – Find maximum, minimum, average, and summary statistics.</a:t>
            </a:r>
          </a:p>
          <a:p>
            <a:pPr algn="just" marL="561771" indent="-280885" lvl="1">
              <a:lnSpc>
                <a:spcPts val="3642"/>
              </a:lnSpc>
              <a:buFont typeface="Arial"/>
              <a:buChar char="•"/>
            </a:pPr>
            <a:r>
              <a:rPr lang="en-US" sz="2601">
                <a:solidFill>
                  <a:srgbClr val="4B581A"/>
                </a:solidFill>
                <a:latin typeface="JA Jayagiri Sans"/>
                <a:ea typeface="JA Jayagiri Sans"/>
                <a:cs typeface="JA Jayagiri Sans"/>
                <a:sym typeface="JA Jayagiri Sans"/>
              </a:rPr>
              <a:t>Data Manipulation – Filter, sort, and group data.</a:t>
            </a:r>
          </a:p>
          <a:p>
            <a:pPr algn="just" marL="561771" indent="-280885" lvl="1">
              <a:lnSpc>
                <a:spcPts val="3642"/>
              </a:lnSpc>
              <a:buFont typeface="Arial"/>
              <a:buChar char="•"/>
            </a:pPr>
            <a:r>
              <a:rPr lang="en-US" sz="2601">
                <a:solidFill>
                  <a:srgbClr val="4B581A"/>
                </a:solidFill>
                <a:latin typeface="JA Jayagiri Sans"/>
                <a:ea typeface="JA Jayagiri Sans"/>
                <a:cs typeface="JA Jayagiri Sans"/>
                <a:sym typeface="JA Jayagiri Sans"/>
              </a:rPr>
              <a:t>Statistical Summary – Generate summary using .describe().</a:t>
            </a:r>
          </a:p>
          <a:p>
            <a:pPr algn="just">
              <a:lnSpc>
                <a:spcPts val="3642"/>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00889" y="-700685"/>
            <a:ext cx="1900671" cy="2931851"/>
          </a:xfrm>
          <a:custGeom>
            <a:avLst/>
            <a:gdLst/>
            <a:ahLst/>
            <a:cxnLst/>
            <a:rect r="r" b="b" t="t" l="l"/>
            <a:pathLst>
              <a:path h="2931851" w="1900671">
                <a:moveTo>
                  <a:pt x="0" y="0"/>
                </a:moveTo>
                <a:lnTo>
                  <a:pt x="1900671" y="0"/>
                </a:lnTo>
                <a:lnTo>
                  <a:pt x="1900671" y="2931851"/>
                </a:lnTo>
                <a:lnTo>
                  <a:pt x="0" y="2931851"/>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0" y="2615694"/>
            <a:ext cx="11722799" cy="7671306"/>
          </a:xfrm>
          <a:prstGeom prst="rect">
            <a:avLst/>
          </a:prstGeom>
        </p:spPr>
        <p:txBody>
          <a:bodyPr anchor="t" rtlCol="false" tIns="0" lIns="0" bIns="0" rIns="0">
            <a:spAutoFit/>
          </a:bodyPr>
          <a:lstStyle/>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What is NumPy?</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NumPy (Numerical Python) is an open-source Python library used for numerical calculations and working with arrays. It makes mathematical operations faster and more efficient.</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Uses of NumPy</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Numerical Calculations – Performs fast mathematical operations.</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Array Operations – Creates and manages one-dimensional and multi-dimensional arrays.</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Statistical Functions – Calculates mean, maximum, minimum, and other statistical values.</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Data Processing – Supports efficient data analysis with Pandas.</a:t>
            </a:r>
          </a:p>
          <a:p>
            <a:pPr algn="just" marL="583720" indent="-291860" lvl="1">
              <a:lnSpc>
                <a:spcPts val="3785"/>
              </a:lnSpc>
              <a:buFont typeface="Arial"/>
              <a:buChar char="•"/>
            </a:pPr>
            <a:r>
              <a:rPr lang="en-US" sz="2703">
                <a:solidFill>
                  <a:srgbClr val="4B581A"/>
                </a:solidFill>
                <a:latin typeface="JA Jayagiri Sans"/>
                <a:ea typeface="JA Jayagiri Sans"/>
                <a:cs typeface="JA Jayagiri Sans"/>
                <a:sym typeface="JA Jayagiri Sans"/>
              </a:rPr>
              <a:t>High Performance – Processes large datasets quickly.</a:t>
            </a:r>
          </a:p>
          <a:p>
            <a:pPr algn="just" marL="583720" indent="-291860" lvl="1">
              <a:lnSpc>
                <a:spcPts val="3785"/>
              </a:lnSpc>
              <a:buFont typeface="Arial"/>
              <a:buChar char="•"/>
            </a:pPr>
          </a:p>
        </p:txBody>
      </p:sp>
      <p:sp>
        <p:nvSpPr>
          <p:cNvPr name="Freeform 10" id="10"/>
          <p:cNvSpPr/>
          <p:nvPr/>
        </p:nvSpPr>
        <p:spPr>
          <a:xfrm flipH="false" flipV="false" rot="0">
            <a:off x="12546459" y="3259363"/>
            <a:ext cx="4712841" cy="4712841"/>
          </a:xfrm>
          <a:custGeom>
            <a:avLst/>
            <a:gdLst/>
            <a:ahLst/>
            <a:cxnLst/>
            <a:rect r="r" b="b" t="t" l="l"/>
            <a:pathLst>
              <a:path h="4712841" w="4712841">
                <a:moveTo>
                  <a:pt x="0" y="0"/>
                </a:moveTo>
                <a:lnTo>
                  <a:pt x="4712841" y="0"/>
                </a:lnTo>
                <a:lnTo>
                  <a:pt x="4712841" y="4712841"/>
                </a:lnTo>
                <a:lnTo>
                  <a:pt x="0" y="4712841"/>
                </a:lnTo>
                <a:lnTo>
                  <a:pt x="0" y="0"/>
                </a:lnTo>
                <a:close/>
              </a:path>
            </a:pathLst>
          </a:custGeom>
          <a:blipFill>
            <a:blip r:embed="rId7"/>
            <a:stretch>
              <a:fillRect l="0" t="0" r="0" b="0"/>
            </a:stretch>
          </a:blipFill>
        </p:spPr>
      </p:sp>
      <p:sp>
        <p:nvSpPr>
          <p:cNvPr name="TextBox 11" id="11"/>
          <p:cNvSpPr txBox="true"/>
          <p:nvPr/>
        </p:nvSpPr>
        <p:spPr>
          <a:xfrm rot="0">
            <a:off x="3683474" y="1252795"/>
            <a:ext cx="13244816" cy="1162663"/>
          </a:xfrm>
          <a:prstGeom prst="rect">
            <a:avLst/>
          </a:prstGeom>
        </p:spPr>
        <p:txBody>
          <a:bodyPr anchor="t" rtlCol="false" tIns="0" lIns="0" bIns="0" rIns="0">
            <a:spAutoFit/>
          </a:bodyPr>
          <a:lstStyle/>
          <a:p>
            <a:pPr algn="ctr">
              <a:lnSpc>
                <a:spcPts val="9051"/>
              </a:lnSpc>
            </a:pPr>
            <a:r>
              <a:rPr lang="en-US" sz="6465">
                <a:solidFill>
                  <a:srgbClr val="788838"/>
                </a:solidFill>
                <a:latin typeface="Brasika"/>
                <a:ea typeface="Brasika"/>
                <a:cs typeface="Brasika"/>
                <a:sym typeface="Brasika"/>
              </a:rPr>
              <a:t>LIBRARIES USED – NUMPY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69461" y="-667153"/>
            <a:ext cx="2246496" cy="3465298"/>
          </a:xfrm>
          <a:custGeom>
            <a:avLst/>
            <a:gdLst/>
            <a:ahLst/>
            <a:cxnLst/>
            <a:rect r="r" b="b" t="t" l="l"/>
            <a:pathLst>
              <a:path h="3465298" w="2246496">
                <a:moveTo>
                  <a:pt x="0" y="0"/>
                </a:moveTo>
                <a:lnTo>
                  <a:pt x="2246496" y="0"/>
                </a:lnTo>
                <a:lnTo>
                  <a:pt x="2246496" y="3465298"/>
                </a:lnTo>
                <a:lnTo>
                  <a:pt x="0" y="346529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508510" y="4330698"/>
            <a:ext cx="5969058" cy="2984529"/>
          </a:xfrm>
          <a:custGeom>
            <a:avLst/>
            <a:gdLst/>
            <a:ahLst/>
            <a:cxnLst/>
            <a:rect r="r" b="b" t="t" l="l"/>
            <a:pathLst>
              <a:path h="2984529" w="5969058">
                <a:moveTo>
                  <a:pt x="0" y="0"/>
                </a:moveTo>
                <a:lnTo>
                  <a:pt x="5969058" y="0"/>
                </a:lnTo>
                <a:lnTo>
                  <a:pt x="5969058" y="2984529"/>
                </a:lnTo>
                <a:lnTo>
                  <a:pt x="0" y="2984529"/>
                </a:lnTo>
                <a:lnTo>
                  <a:pt x="0" y="0"/>
                </a:lnTo>
                <a:close/>
              </a:path>
            </a:pathLst>
          </a:custGeom>
          <a:blipFill>
            <a:blip r:embed="rId7"/>
            <a:stretch>
              <a:fillRect l="0" t="0" r="0" b="0"/>
            </a:stretch>
          </a:blipFill>
        </p:spPr>
      </p:sp>
      <p:sp>
        <p:nvSpPr>
          <p:cNvPr name="TextBox 10" id="10"/>
          <p:cNvSpPr txBox="true"/>
          <p:nvPr/>
        </p:nvSpPr>
        <p:spPr>
          <a:xfrm rot="0">
            <a:off x="2811041" y="1341052"/>
            <a:ext cx="14056543" cy="1046573"/>
          </a:xfrm>
          <a:prstGeom prst="rect">
            <a:avLst/>
          </a:prstGeom>
        </p:spPr>
        <p:txBody>
          <a:bodyPr anchor="t" rtlCol="false" tIns="0" lIns="0" bIns="0" rIns="0">
            <a:spAutoFit/>
          </a:bodyPr>
          <a:lstStyle/>
          <a:p>
            <a:pPr algn="ctr">
              <a:lnSpc>
                <a:spcPts val="8157"/>
              </a:lnSpc>
            </a:pPr>
            <a:r>
              <a:rPr lang="en-US" sz="5826">
                <a:solidFill>
                  <a:srgbClr val="788838"/>
                </a:solidFill>
                <a:latin typeface="Brasika"/>
                <a:ea typeface="Brasika"/>
                <a:cs typeface="Brasika"/>
                <a:sym typeface="Brasika"/>
              </a:rPr>
              <a:t>LIBRARIES USED – MATPLOTLIB</a:t>
            </a:r>
          </a:p>
        </p:txBody>
      </p:sp>
      <p:sp>
        <p:nvSpPr>
          <p:cNvPr name="TextBox 11" id="11"/>
          <p:cNvSpPr txBox="true"/>
          <p:nvPr/>
        </p:nvSpPr>
        <p:spPr>
          <a:xfrm rot="0">
            <a:off x="234367" y="2545422"/>
            <a:ext cx="10134200" cy="7464366"/>
          </a:xfrm>
          <a:prstGeom prst="rect">
            <a:avLst/>
          </a:prstGeom>
        </p:spPr>
        <p:txBody>
          <a:bodyPr anchor="t" rtlCol="false" tIns="0" lIns="0" bIns="0" rIns="0">
            <a:spAutoFit/>
          </a:bodyPr>
          <a:lstStyle/>
          <a:p>
            <a:pPr algn="just">
              <a:lnSpc>
                <a:spcPts val="4202"/>
              </a:lnSpc>
            </a:pPr>
            <a:r>
              <a:rPr lang="en-US" sz="3002">
                <a:solidFill>
                  <a:srgbClr val="4B581A"/>
                </a:solidFill>
                <a:latin typeface="JA Jayagiri Sans"/>
                <a:ea typeface="JA Jayagiri Sans"/>
                <a:cs typeface="JA Jayagiri Sans"/>
                <a:sym typeface="JA Jayagiri Sans"/>
              </a:rPr>
              <a:t>What is Matplotlib?</a:t>
            </a:r>
          </a:p>
          <a:p>
            <a:pPr algn="just">
              <a:lnSpc>
                <a:spcPts val="4202"/>
              </a:lnSpc>
            </a:pPr>
            <a:r>
              <a:rPr lang="en-US" sz="3002">
                <a:solidFill>
                  <a:srgbClr val="4B581A"/>
                </a:solidFill>
                <a:latin typeface="JA Jayagiri Sans"/>
                <a:ea typeface="JA Jayagiri Sans"/>
                <a:cs typeface="JA Jayagiri Sans"/>
                <a:sym typeface="JA Jayagiri Sans"/>
              </a:rPr>
              <a:t>Matplotlib is a Python library used to create charts and graphs for data visualization.</a:t>
            </a:r>
          </a:p>
          <a:p>
            <a:pPr algn="just">
              <a:lnSpc>
                <a:spcPts val="4202"/>
              </a:lnSpc>
            </a:pPr>
            <a:r>
              <a:rPr lang="en-US" sz="3002">
                <a:solidFill>
                  <a:srgbClr val="4B581A"/>
                </a:solidFill>
                <a:latin typeface="JA Jayagiri Sans"/>
                <a:ea typeface="JA Jayagiri Sans"/>
                <a:cs typeface="JA Jayagiri Sans"/>
                <a:sym typeface="JA Jayagiri Sans"/>
              </a:rPr>
              <a:t>Uses of Matplotlib</a:t>
            </a:r>
          </a:p>
          <a:p>
            <a:pPr algn="just" marL="648144" indent="-324072" lvl="1">
              <a:lnSpc>
                <a:spcPts val="4202"/>
              </a:lnSpc>
              <a:buFont typeface="Arial"/>
              <a:buChar char="•"/>
            </a:pPr>
            <a:r>
              <a:rPr lang="en-US" sz="3002">
                <a:solidFill>
                  <a:srgbClr val="4B581A"/>
                </a:solidFill>
                <a:latin typeface="JA Jayagiri Sans"/>
                <a:ea typeface="JA Jayagiri Sans"/>
                <a:cs typeface="JA Jayagiri Sans"/>
                <a:sym typeface="JA Jayagiri Sans"/>
              </a:rPr>
              <a:t>Line Charts – Show PM2.5 trends over time.</a:t>
            </a:r>
          </a:p>
          <a:p>
            <a:pPr algn="just" marL="648144" indent="-324072" lvl="1">
              <a:lnSpc>
                <a:spcPts val="4202"/>
              </a:lnSpc>
              <a:buFont typeface="Arial"/>
              <a:buChar char="•"/>
            </a:pPr>
            <a:r>
              <a:rPr lang="en-US" sz="3002">
                <a:solidFill>
                  <a:srgbClr val="4B581A"/>
                </a:solidFill>
                <a:latin typeface="JA Jayagiri Sans"/>
                <a:ea typeface="JA Jayagiri Sans"/>
                <a:cs typeface="JA Jayagiri Sans"/>
                <a:sym typeface="JA Jayagiri Sans"/>
              </a:rPr>
              <a:t>Bar Charts – Compare PM2.5 values by year, month, or hour.</a:t>
            </a:r>
          </a:p>
          <a:p>
            <a:pPr algn="just" marL="648144" indent="-324072" lvl="1">
              <a:lnSpc>
                <a:spcPts val="4202"/>
              </a:lnSpc>
              <a:buFont typeface="Arial"/>
              <a:buChar char="•"/>
            </a:pPr>
            <a:r>
              <a:rPr lang="en-US" sz="3002">
                <a:solidFill>
                  <a:srgbClr val="4B581A"/>
                </a:solidFill>
                <a:latin typeface="JA Jayagiri Sans"/>
                <a:ea typeface="JA Jayagiri Sans"/>
                <a:cs typeface="JA Jayagiri Sans"/>
                <a:sym typeface="JA Jayagiri Sans"/>
              </a:rPr>
              <a:t>Scatter Plots – Show the relationship between data values.</a:t>
            </a:r>
          </a:p>
          <a:p>
            <a:pPr algn="just" marL="648144" indent="-324072" lvl="1">
              <a:lnSpc>
                <a:spcPts val="4202"/>
              </a:lnSpc>
              <a:buFont typeface="Arial"/>
              <a:buChar char="•"/>
            </a:pPr>
            <a:r>
              <a:rPr lang="en-US" sz="3002">
                <a:solidFill>
                  <a:srgbClr val="4B581A"/>
                </a:solidFill>
                <a:latin typeface="JA Jayagiri Sans"/>
                <a:ea typeface="JA Jayagiri Sans"/>
                <a:cs typeface="JA Jayagiri Sans"/>
                <a:sym typeface="JA Jayagiri Sans"/>
              </a:rPr>
              <a:t>Histogram – Show the distribution of PM2.5 values.</a:t>
            </a:r>
          </a:p>
          <a:p>
            <a:pPr algn="just" marL="648144" indent="-324072" lvl="1">
              <a:lnSpc>
                <a:spcPts val="4202"/>
              </a:lnSpc>
              <a:buFont typeface="Arial"/>
              <a:buChar char="•"/>
            </a:pPr>
            <a:r>
              <a:rPr lang="en-US" sz="3002">
                <a:solidFill>
                  <a:srgbClr val="4B581A"/>
                </a:solidFill>
                <a:latin typeface="JA Jayagiri Sans"/>
                <a:ea typeface="JA Jayagiri Sans"/>
                <a:cs typeface="JA Jayagiri Sans"/>
                <a:sym typeface="JA Jayagiri Sans"/>
              </a:rPr>
              <a:t>Customization – Add titles, labels, colors, and legends.</a:t>
            </a:r>
          </a:p>
          <a:p>
            <a:pPr algn="just">
              <a:lnSpc>
                <a:spcPts val="4202"/>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00889" y="-700685"/>
            <a:ext cx="1900671" cy="2931851"/>
          </a:xfrm>
          <a:custGeom>
            <a:avLst/>
            <a:gdLst/>
            <a:ahLst/>
            <a:cxnLst/>
            <a:rect r="r" b="b" t="t" l="l"/>
            <a:pathLst>
              <a:path h="2931851" w="1900671">
                <a:moveTo>
                  <a:pt x="0" y="0"/>
                </a:moveTo>
                <a:lnTo>
                  <a:pt x="1900671" y="0"/>
                </a:lnTo>
                <a:lnTo>
                  <a:pt x="1900671" y="2931851"/>
                </a:lnTo>
                <a:lnTo>
                  <a:pt x="0" y="2931851"/>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649447" y="2850178"/>
            <a:ext cx="10456894" cy="6180031"/>
          </a:xfrm>
          <a:prstGeom prst="rect">
            <a:avLst/>
          </a:prstGeom>
        </p:spPr>
        <p:txBody>
          <a:bodyPr anchor="t" rtlCol="false" tIns="0" lIns="0" bIns="0" rIns="0">
            <a:spAutoFit/>
          </a:bodyPr>
          <a:lstStyle/>
          <a:p>
            <a:pPr algn="just">
              <a:lnSpc>
                <a:spcPts val="3768"/>
              </a:lnSpc>
            </a:pPr>
            <a:r>
              <a:rPr lang="en-US" sz="2691">
                <a:solidFill>
                  <a:srgbClr val="4B581A"/>
                </a:solidFill>
                <a:latin typeface="JA Jayagiri Sans"/>
                <a:ea typeface="JA Jayagiri Sans"/>
                <a:cs typeface="JA Jayagiri Sans"/>
                <a:sym typeface="JA Jayagiri Sans"/>
              </a:rPr>
              <a:t>What is Seaborn?</a:t>
            </a:r>
          </a:p>
          <a:p>
            <a:pPr algn="just">
              <a:lnSpc>
                <a:spcPts val="3768"/>
              </a:lnSpc>
            </a:pPr>
            <a:r>
              <a:rPr lang="en-US" sz="2691">
                <a:solidFill>
                  <a:srgbClr val="4B581A"/>
                </a:solidFill>
                <a:latin typeface="JA Jayagiri Sans"/>
                <a:ea typeface="JA Jayagiri Sans"/>
                <a:cs typeface="JA Jayagiri Sans"/>
                <a:sym typeface="JA Jayagiri Sans"/>
              </a:rPr>
              <a:t>Seaborn is a Python library used to create beautiful and informative charts. It is built on top of Matplotlib.</a:t>
            </a:r>
          </a:p>
          <a:p>
            <a:pPr algn="just">
              <a:lnSpc>
                <a:spcPts val="3768"/>
              </a:lnSpc>
            </a:pPr>
            <a:r>
              <a:rPr lang="en-US" sz="2691">
                <a:solidFill>
                  <a:srgbClr val="4B581A"/>
                </a:solidFill>
                <a:latin typeface="JA Jayagiri Sans"/>
                <a:ea typeface="JA Jayagiri Sans"/>
                <a:cs typeface="JA Jayagiri Sans"/>
                <a:sym typeface="JA Jayagiri Sans"/>
              </a:rPr>
              <a:t>Uses of Seaborn</a:t>
            </a:r>
          </a:p>
          <a:p>
            <a:pPr algn="l" marL="581141" indent="-290570" lvl="1">
              <a:lnSpc>
                <a:spcPts val="3768"/>
              </a:lnSpc>
              <a:buFont typeface="Arial"/>
              <a:buChar char="•"/>
            </a:pPr>
            <a:r>
              <a:rPr lang="en-US" sz="2691">
                <a:solidFill>
                  <a:srgbClr val="4B581A"/>
                </a:solidFill>
                <a:latin typeface="JA Jayagiri Sans"/>
                <a:ea typeface="JA Jayagiri Sans"/>
                <a:cs typeface="JA Jayagiri Sans"/>
                <a:sym typeface="JA Jayagiri Sans"/>
              </a:rPr>
              <a:t>Heatmaps – Show correlation between variables.</a:t>
            </a:r>
          </a:p>
          <a:p>
            <a:pPr algn="l" marL="581141" indent="-290570" lvl="1">
              <a:lnSpc>
                <a:spcPts val="3768"/>
              </a:lnSpc>
              <a:buFont typeface="Arial"/>
              <a:buChar char="•"/>
            </a:pPr>
            <a:r>
              <a:rPr lang="en-US" sz="2691">
                <a:solidFill>
                  <a:srgbClr val="4B581A"/>
                </a:solidFill>
                <a:latin typeface="JA Jayagiri Sans"/>
                <a:ea typeface="JA Jayagiri Sans"/>
                <a:cs typeface="JA Jayagiri Sans"/>
                <a:sym typeface="JA Jayagiri Sans"/>
              </a:rPr>
              <a:t>Box Plots – Detect outliers in PM2.5 data.</a:t>
            </a:r>
          </a:p>
          <a:p>
            <a:pPr algn="l" marL="581141" indent="-290570" lvl="1">
              <a:lnSpc>
                <a:spcPts val="3768"/>
              </a:lnSpc>
              <a:buFont typeface="Arial"/>
              <a:buChar char="•"/>
            </a:pPr>
            <a:r>
              <a:rPr lang="en-US" sz="2691">
                <a:solidFill>
                  <a:srgbClr val="4B581A"/>
                </a:solidFill>
                <a:latin typeface="JA Jayagiri Sans"/>
                <a:ea typeface="JA Jayagiri Sans"/>
                <a:cs typeface="JA Jayagiri Sans"/>
                <a:sym typeface="JA Jayagiri Sans"/>
              </a:rPr>
              <a:t>Distribution Plots – Show the distribution of PM2.5 values.</a:t>
            </a:r>
          </a:p>
          <a:p>
            <a:pPr algn="l" marL="581141" indent="-290570" lvl="1">
              <a:lnSpc>
                <a:spcPts val="3768"/>
              </a:lnSpc>
              <a:buFont typeface="Arial"/>
              <a:buChar char="•"/>
            </a:pPr>
            <a:r>
              <a:rPr lang="en-US" sz="2691">
                <a:solidFill>
                  <a:srgbClr val="4B581A"/>
                </a:solidFill>
                <a:latin typeface="JA Jayagiri Sans"/>
                <a:ea typeface="JA Jayagiri Sans"/>
                <a:cs typeface="JA Jayagiri Sans"/>
                <a:sym typeface="JA Jayagiri Sans"/>
              </a:rPr>
              <a:t>Statistical Charts – Create clear and attractive graphs.</a:t>
            </a:r>
          </a:p>
          <a:p>
            <a:pPr algn="l" marL="581141" indent="-290570" lvl="1">
              <a:lnSpc>
                <a:spcPts val="3768"/>
              </a:lnSpc>
              <a:buFont typeface="Arial"/>
              <a:buChar char="•"/>
            </a:pPr>
            <a:r>
              <a:rPr lang="en-US" sz="2691">
                <a:solidFill>
                  <a:srgbClr val="4B581A"/>
                </a:solidFill>
                <a:latin typeface="JA Jayagiri Sans"/>
                <a:ea typeface="JA Jayagiri Sans"/>
                <a:cs typeface="JA Jayagiri Sans"/>
                <a:sym typeface="JA Jayagiri Sans"/>
              </a:rPr>
              <a:t>Works with Pandas – Easily plots data from DataFrames.</a:t>
            </a:r>
          </a:p>
          <a:p>
            <a:pPr algn="l">
              <a:lnSpc>
                <a:spcPts val="3768"/>
              </a:lnSpc>
            </a:pPr>
          </a:p>
        </p:txBody>
      </p:sp>
      <p:sp>
        <p:nvSpPr>
          <p:cNvPr name="Freeform 10" id="10"/>
          <p:cNvSpPr/>
          <p:nvPr/>
        </p:nvSpPr>
        <p:spPr>
          <a:xfrm flipH="false" flipV="false" rot="0">
            <a:off x="11397276" y="3308820"/>
            <a:ext cx="6460595" cy="5056118"/>
          </a:xfrm>
          <a:custGeom>
            <a:avLst/>
            <a:gdLst/>
            <a:ahLst/>
            <a:cxnLst/>
            <a:rect r="r" b="b" t="t" l="l"/>
            <a:pathLst>
              <a:path h="5056118" w="6460595">
                <a:moveTo>
                  <a:pt x="0" y="0"/>
                </a:moveTo>
                <a:lnTo>
                  <a:pt x="6460595" y="0"/>
                </a:lnTo>
                <a:lnTo>
                  <a:pt x="6460595" y="5056118"/>
                </a:lnTo>
                <a:lnTo>
                  <a:pt x="0" y="5056118"/>
                </a:lnTo>
                <a:lnTo>
                  <a:pt x="0" y="0"/>
                </a:lnTo>
                <a:close/>
              </a:path>
            </a:pathLst>
          </a:custGeom>
          <a:blipFill>
            <a:blip r:embed="rId7"/>
            <a:stretch>
              <a:fillRect l="0" t="0" r="0" b="0"/>
            </a:stretch>
          </a:blipFill>
        </p:spPr>
      </p:sp>
      <p:sp>
        <p:nvSpPr>
          <p:cNvPr name="TextBox 11" id="11"/>
          <p:cNvSpPr txBox="true"/>
          <p:nvPr/>
        </p:nvSpPr>
        <p:spPr>
          <a:xfrm rot="0">
            <a:off x="2738423" y="1396343"/>
            <a:ext cx="13727218" cy="1019115"/>
          </a:xfrm>
          <a:prstGeom prst="rect">
            <a:avLst/>
          </a:prstGeom>
        </p:spPr>
        <p:txBody>
          <a:bodyPr anchor="t" rtlCol="false" tIns="0" lIns="0" bIns="0" rIns="0">
            <a:spAutoFit/>
          </a:bodyPr>
          <a:lstStyle/>
          <a:p>
            <a:pPr algn="ctr">
              <a:lnSpc>
                <a:spcPts val="7903"/>
              </a:lnSpc>
            </a:pPr>
            <a:r>
              <a:rPr lang="en-US" sz="5645">
                <a:solidFill>
                  <a:srgbClr val="788838"/>
                </a:solidFill>
                <a:latin typeface="Brasika"/>
                <a:ea typeface="Brasika"/>
                <a:cs typeface="Brasika"/>
                <a:sym typeface="Brasika"/>
              </a:rPr>
              <a:t>LIBRARIES USED – SEABORN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550133" y="-578805"/>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116026" y="4251580"/>
            <a:ext cx="6355937" cy="4752436"/>
          </a:xfrm>
          <a:custGeom>
            <a:avLst/>
            <a:gdLst/>
            <a:ahLst/>
            <a:cxnLst/>
            <a:rect r="r" b="b" t="t" l="l"/>
            <a:pathLst>
              <a:path h="4752436" w="6355937">
                <a:moveTo>
                  <a:pt x="0" y="0"/>
                </a:moveTo>
                <a:lnTo>
                  <a:pt x="6355937" y="0"/>
                </a:lnTo>
                <a:lnTo>
                  <a:pt x="6355937" y="4752436"/>
                </a:lnTo>
                <a:lnTo>
                  <a:pt x="0" y="4752436"/>
                </a:lnTo>
                <a:lnTo>
                  <a:pt x="0" y="0"/>
                </a:lnTo>
                <a:close/>
              </a:path>
            </a:pathLst>
          </a:custGeom>
          <a:blipFill>
            <a:blip r:embed="rId7"/>
            <a:stretch>
              <a:fillRect l="0" t="-5786" r="0" b="-5786"/>
            </a:stretch>
          </a:blipFill>
        </p:spPr>
      </p:sp>
      <p:sp>
        <p:nvSpPr>
          <p:cNvPr name="TextBox 10" id="10"/>
          <p:cNvSpPr txBox="true"/>
          <p:nvPr/>
        </p:nvSpPr>
        <p:spPr>
          <a:xfrm rot="0">
            <a:off x="2769333" y="1350577"/>
            <a:ext cx="13323673" cy="1801092"/>
          </a:xfrm>
          <a:prstGeom prst="rect">
            <a:avLst/>
          </a:prstGeom>
        </p:spPr>
        <p:txBody>
          <a:bodyPr anchor="t" rtlCol="false" tIns="0" lIns="0" bIns="0" rIns="0">
            <a:spAutoFit/>
          </a:bodyPr>
          <a:lstStyle/>
          <a:p>
            <a:pPr algn="ctr">
              <a:lnSpc>
                <a:spcPts val="7014"/>
              </a:lnSpc>
            </a:pPr>
            <a:r>
              <a:rPr lang="en-US" sz="5010">
                <a:solidFill>
                  <a:srgbClr val="788838"/>
                </a:solidFill>
                <a:latin typeface="Brasika"/>
                <a:ea typeface="Brasika"/>
                <a:cs typeface="Brasika"/>
                <a:sym typeface="Brasika"/>
              </a:rPr>
              <a:t>📈 Year-wise PM2.5 Trend Line Plot</a:t>
            </a:r>
          </a:p>
          <a:p>
            <a:pPr algn="ctr">
              <a:lnSpc>
                <a:spcPts val="7014"/>
              </a:lnSpc>
            </a:pPr>
          </a:p>
        </p:txBody>
      </p:sp>
      <p:sp>
        <p:nvSpPr>
          <p:cNvPr name="TextBox 11" id="11"/>
          <p:cNvSpPr txBox="true"/>
          <p:nvPr/>
        </p:nvSpPr>
        <p:spPr>
          <a:xfrm rot="0">
            <a:off x="390341" y="3317934"/>
            <a:ext cx="10725685" cy="6543529"/>
          </a:xfrm>
          <a:prstGeom prst="rect">
            <a:avLst/>
          </a:prstGeom>
        </p:spPr>
        <p:txBody>
          <a:bodyPr anchor="t" rtlCol="false" tIns="0" lIns="0" bIns="0" rIns="0">
            <a:spAutoFit/>
          </a:bodyPr>
          <a:lstStyle/>
          <a:p>
            <a:pPr algn="l">
              <a:lnSpc>
                <a:spcPts val="4752"/>
              </a:lnSpc>
            </a:pP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Purpose</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Shows the average PM2.5 level for each year from 2017 to 2022.</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Key Findings</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2017 has the highest average PM2.5 level.</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PM2.5 levels decreased from 2017 to 2020.</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2020 recorded the lowest pollution level.</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Pollution increased slightly in 2021 and 2022.</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Chart Details</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X-Axis: Year</a:t>
            </a:r>
          </a:p>
          <a:p>
            <a:pPr algn="l" marL="608542" indent="-304271" lvl="1">
              <a:lnSpc>
                <a:spcPts val="3946"/>
              </a:lnSpc>
              <a:buFont typeface="Arial"/>
              <a:buChar char="•"/>
            </a:pPr>
            <a:r>
              <a:rPr lang="en-US" sz="2818">
                <a:solidFill>
                  <a:srgbClr val="4B581A"/>
                </a:solidFill>
                <a:latin typeface="JA Jayagiri Sans"/>
                <a:ea typeface="JA Jayagiri Sans"/>
                <a:cs typeface="JA Jayagiri Sans"/>
                <a:sym typeface="JA Jayagiri Sans"/>
              </a:rPr>
              <a:t>Y-Axis: Average PM2.5</a:t>
            </a:r>
          </a:p>
          <a:p>
            <a:pPr algn="l" marL="608542" indent="-304271" lvl="1">
              <a:lnSpc>
                <a:spcPts val="3946"/>
              </a:lnSpc>
              <a:buFont typeface="Arial"/>
              <a:buChar char="•"/>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69461" y="-667153"/>
            <a:ext cx="2246496" cy="3465298"/>
          </a:xfrm>
          <a:custGeom>
            <a:avLst/>
            <a:gdLst/>
            <a:ahLst/>
            <a:cxnLst/>
            <a:rect r="r" b="b" t="t" l="l"/>
            <a:pathLst>
              <a:path h="3465298" w="2246496">
                <a:moveTo>
                  <a:pt x="0" y="0"/>
                </a:moveTo>
                <a:lnTo>
                  <a:pt x="2246496" y="0"/>
                </a:lnTo>
                <a:lnTo>
                  <a:pt x="2246496" y="3465298"/>
                </a:lnTo>
                <a:lnTo>
                  <a:pt x="0" y="346529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757221" y="3093079"/>
            <a:ext cx="6518399" cy="5690094"/>
          </a:xfrm>
          <a:custGeom>
            <a:avLst/>
            <a:gdLst/>
            <a:ahLst/>
            <a:cxnLst/>
            <a:rect r="r" b="b" t="t" l="l"/>
            <a:pathLst>
              <a:path h="5690094" w="6518399">
                <a:moveTo>
                  <a:pt x="0" y="0"/>
                </a:moveTo>
                <a:lnTo>
                  <a:pt x="6518399" y="0"/>
                </a:lnTo>
                <a:lnTo>
                  <a:pt x="6518399" y="5690095"/>
                </a:lnTo>
                <a:lnTo>
                  <a:pt x="0" y="5690095"/>
                </a:lnTo>
                <a:lnTo>
                  <a:pt x="0" y="0"/>
                </a:lnTo>
                <a:close/>
              </a:path>
            </a:pathLst>
          </a:custGeom>
          <a:blipFill>
            <a:blip r:embed="rId7"/>
            <a:stretch>
              <a:fillRect l="0" t="0" r="0" b="0"/>
            </a:stretch>
          </a:blipFill>
        </p:spPr>
      </p:sp>
      <p:sp>
        <p:nvSpPr>
          <p:cNvPr name="TextBox 10" id="10"/>
          <p:cNvSpPr txBox="true"/>
          <p:nvPr/>
        </p:nvSpPr>
        <p:spPr>
          <a:xfrm rot="0">
            <a:off x="1886331" y="1714659"/>
            <a:ext cx="11737397" cy="1378420"/>
          </a:xfrm>
          <a:prstGeom prst="rect">
            <a:avLst/>
          </a:prstGeom>
        </p:spPr>
        <p:txBody>
          <a:bodyPr anchor="t" rtlCol="false" tIns="0" lIns="0" bIns="0" rIns="0">
            <a:spAutoFit/>
          </a:bodyPr>
          <a:lstStyle/>
          <a:p>
            <a:pPr algn="ctr">
              <a:lnSpc>
                <a:spcPts val="5378"/>
              </a:lnSpc>
            </a:pPr>
            <a:r>
              <a:rPr lang="en-US" sz="3841">
                <a:solidFill>
                  <a:srgbClr val="788838"/>
                </a:solidFill>
                <a:latin typeface="Brasika"/>
                <a:ea typeface="Brasika"/>
                <a:cs typeface="Brasika"/>
                <a:sym typeface="Brasika"/>
              </a:rPr>
              <a:t>📊 Year-wise PM2.5 Comparison (Bar Chart)</a:t>
            </a:r>
          </a:p>
          <a:p>
            <a:pPr algn="ctr">
              <a:lnSpc>
                <a:spcPts val="5378"/>
              </a:lnSpc>
            </a:pPr>
          </a:p>
        </p:txBody>
      </p:sp>
      <p:sp>
        <p:nvSpPr>
          <p:cNvPr name="TextBox 11" id="11"/>
          <p:cNvSpPr txBox="true"/>
          <p:nvPr/>
        </p:nvSpPr>
        <p:spPr>
          <a:xfrm rot="0">
            <a:off x="753787" y="2989954"/>
            <a:ext cx="8323541" cy="6297818"/>
          </a:xfrm>
          <a:prstGeom prst="rect">
            <a:avLst/>
          </a:prstGeom>
        </p:spPr>
        <p:txBody>
          <a:bodyPr anchor="t" rtlCol="false" tIns="0" lIns="0" bIns="0" rIns="0">
            <a:spAutoFit/>
          </a:bodyPr>
          <a:lstStyle/>
          <a:p>
            <a:pPr algn="just">
              <a:lnSpc>
                <a:spcPts val="3544"/>
              </a:lnSpc>
            </a:pPr>
            <a:r>
              <a:rPr lang="en-US" sz="2531">
                <a:solidFill>
                  <a:srgbClr val="4B581A"/>
                </a:solidFill>
                <a:latin typeface="JA Jayagiri Sans"/>
                <a:ea typeface="JA Jayagiri Sans"/>
                <a:cs typeface="JA Jayagiri Sans"/>
                <a:sym typeface="JA Jayagiri Sans"/>
              </a:rPr>
              <a:t>Purpose</a:t>
            </a:r>
          </a:p>
          <a:p>
            <a:pPr algn="just">
              <a:lnSpc>
                <a:spcPts val="3544"/>
              </a:lnSpc>
            </a:pPr>
            <a:r>
              <a:rPr lang="en-US" sz="2531">
                <a:solidFill>
                  <a:srgbClr val="4B581A"/>
                </a:solidFill>
                <a:latin typeface="JA Jayagiri Sans"/>
                <a:ea typeface="JA Jayagiri Sans"/>
                <a:cs typeface="JA Jayagiri Sans"/>
                <a:sym typeface="JA Jayagiri Sans"/>
              </a:rPr>
              <a:t>Compares the average PM2.5 levels across different years.</a:t>
            </a:r>
          </a:p>
          <a:p>
            <a:pPr algn="just">
              <a:lnSpc>
                <a:spcPts val="3544"/>
              </a:lnSpc>
            </a:pPr>
            <a:r>
              <a:rPr lang="en-US" sz="2531">
                <a:solidFill>
                  <a:srgbClr val="4B581A"/>
                </a:solidFill>
                <a:latin typeface="JA Jayagiri Sans"/>
                <a:ea typeface="JA Jayagiri Sans"/>
                <a:cs typeface="JA Jayagiri Sans"/>
                <a:sym typeface="JA Jayagiri Sans"/>
              </a:rPr>
              <a:t>Key Findings</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2017 has the highest average PM2.5 level.</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2020 has the lowest average PM2.5 level.</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Pollution levels increased slightly after 2020.</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The bar chart makes it easy to compare pollution levels between years.</a:t>
            </a:r>
          </a:p>
          <a:p>
            <a:pPr algn="just">
              <a:lnSpc>
                <a:spcPts val="3544"/>
              </a:lnSpc>
            </a:pPr>
            <a:r>
              <a:rPr lang="en-US" sz="2531">
                <a:solidFill>
                  <a:srgbClr val="4B581A"/>
                </a:solidFill>
                <a:latin typeface="JA Jayagiri Sans"/>
                <a:ea typeface="JA Jayagiri Sans"/>
                <a:cs typeface="JA Jayagiri Sans"/>
                <a:sym typeface="JA Jayagiri Sans"/>
              </a:rPr>
              <a:t>Chart Details</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X-Axis: Year</a:t>
            </a:r>
          </a:p>
          <a:p>
            <a:pPr algn="just" marL="546641" indent="-273321" lvl="1">
              <a:lnSpc>
                <a:spcPts val="3544"/>
              </a:lnSpc>
              <a:buFont typeface="Arial"/>
              <a:buChar char="•"/>
            </a:pPr>
            <a:r>
              <a:rPr lang="en-US" sz="2531">
                <a:solidFill>
                  <a:srgbClr val="4B581A"/>
                </a:solidFill>
                <a:latin typeface="JA Jayagiri Sans"/>
                <a:ea typeface="JA Jayagiri Sans"/>
                <a:cs typeface="JA Jayagiri Sans"/>
                <a:sym typeface="JA Jayagiri Sans"/>
              </a:rPr>
              <a:t>Y-Axis: Average PM2.5</a:t>
            </a:r>
          </a:p>
          <a:p>
            <a:pPr algn="just">
              <a:lnSpc>
                <a:spcPts val="3544"/>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419443" y="-642712"/>
            <a:ext cx="2498569" cy="3854129"/>
          </a:xfrm>
          <a:custGeom>
            <a:avLst/>
            <a:gdLst/>
            <a:ahLst/>
            <a:cxnLst/>
            <a:rect r="r" b="b" t="t" l="l"/>
            <a:pathLst>
              <a:path h="3854129" w="2498569">
                <a:moveTo>
                  <a:pt x="0" y="0"/>
                </a:moveTo>
                <a:lnTo>
                  <a:pt x="2498569" y="0"/>
                </a:lnTo>
                <a:lnTo>
                  <a:pt x="2498569" y="3854130"/>
                </a:lnTo>
                <a:lnTo>
                  <a:pt x="0" y="3854130"/>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767077" y="3015970"/>
            <a:ext cx="6724813" cy="5647357"/>
          </a:xfrm>
          <a:custGeom>
            <a:avLst/>
            <a:gdLst/>
            <a:ahLst/>
            <a:cxnLst/>
            <a:rect r="r" b="b" t="t" l="l"/>
            <a:pathLst>
              <a:path h="5647357" w="6724813">
                <a:moveTo>
                  <a:pt x="0" y="0"/>
                </a:moveTo>
                <a:lnTo>
                  <a:pt x="6724813" y="0"/>
                </a:lnTo>
                <a:lnTo>
                  <a:pt x="6724813" y="5647356"/>
                </a:lnTo>
                <a:lnTo>
                  <a:pt x="0" y="5647356"/>
                </a:lnTo>
                <a:lnTo>
                  <a:pt x="0" y="0"/>
                </a:lnTo>
                <a:close/>
              </a:path>
            </a:pathLst>
          </a:custGeom>
          <a:blipFill>
            <a:blip r:embed="rId7"/>
            <a:stretch>
              <a:fillRect l="0" t="0" r="0" b="0"/>
            </a:stretch>
          </a:blipFill>
        </p:spPr>
      </p:sp>
      <p:sp>
        <p:nvSpPr>
          <p:cNvPr name="TextBox 10" id="10"/>
          <p:cNvSpPr txBox="true"/>
          <p:nvPr/>
        </p:nvSpPr>
        <p:spPr>
          <a:xfrm rot="0">
            <a:off x="4878252" y="1088875"/>
            <a:ext cx="8039661" cy="2250945"/>
          </a:xfrm>
          <a:prstGeom prst="rect">
            <a:avLst/>
          </a:prstGeom>
        </p:spPr>
        <p:txBody>
          <a:bodyPr anchor="t" rtlCol="false" tIns="0" lIns="0" bIns="0" rIns="0">
            <a:spAutoFit/>
          </a:bodyPr>
          <a:lstStyle/>
          <a:p>
            <a:pPr algn="ctr">
              <a:lnSpc>
                <a:spcPts val="8806"/>
              </a:lnSpc>
            </a:pPr>
            <a:r>
              <a:rPr lang="en-US" sz="6290">
                <a:solidFill>
                  <a:srgbClr val="788838"/>
                </a:solidFill>
                <a:latin typeface="Brasika"/>
                <a:ea typeface="Brasika"/>
                <a:cs typeface="Brasika"/>
                <a:sym typeface="Brasika"/>
              </a:rPr>
              <a:t>📊 Monthly PM2.5 Trend</a:t>
            </a:r>
          </a:p>
        </p:txBody>
      </p:sp>
      <p:sp>
        <p:nvSpPr>
          <p:cNvPr name="TextBox 11" id="11"/>
          <p:cNvSpPr txBox="true"/>
          <p:nvPr/>
        </p:nvSpPr>
        <p:spPr>
          <a:xfrm rot="0">
            <a:off x="116645" y="3273145"/>
            <a:ext cx="9314525" cy="6298930"/>
          </a:xfrm>
          <a:prstGeom prst="rect">
            <a:avLst/>
          </a:prstGeom>
        </p:spPr>
        <p:txBody>
          <a:bodyPr anchor="t" rtlCol="false" tIns="0" lIns="0" bIns="0" rIns="0">
            <a:spAutoFit/>
          </a:bodyPr>
          <a:lstStyle/>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Purpose</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Shows the average PM2.5 level for each month.</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Key Points</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PM2.5 is highest in January and December.</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PM2.5 is lowest in July and August.</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Pollution decreases from January to August.</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Pollution increases again from September to December.</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Chart Details</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X-Axis: Month</a:t>
            </a:r>
          </a:p>
          <a:p>
            <a:pPr algn="just" marL="589263" indent="-294632" lvl="1">
              <a:lnSpc>
                <a:spcPts val="3821"/>
              </a:lnSpc>
              <a:buFont typeface="Arial"/>
              <a:buChar char="•"/>
            </a:pPr>
            <a:r>
              <a:rPr lang="en-US" sz="2729">
                <a:solidFill>
                  <a:srgbClr val="4B581A"/>
                </a:solidFill>
                <a:latin typeface="JA Jayagiri Sans"/>
                <a:ea typeface="JA Jayagiri Sans"/>
                <a:cs typeface="JA Jayagiri Sans"/>
                <a:sym typeface="JA Jayagiri Sans"/>
              </a:rPr>
              <a:t>Y-Axis: Average PM2.5</a:t>
            </a:r>
          </a:p>
          <a:p>
            <a:pPr algn="just" marL="589263" indent="-294632" lvl="1">
              <a:lnSpc>
                <a:spcPts val="3821"/>
              </a:lnSpc>
              <a:buFont typeface="Arial"/>
              <a:buChar char="•"/>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578833" y="-1406704"/>
            <a:ext cx="3157665" cy="4870808"/>
          </a:xfrm>
          <a:custGeom>
            <a:avLst/>
            <a:gdLst/>
            <a:ahLst/>
            <a:cxnLst/>
            <a:rect r="r" b="b" t="t" l="l"/>
            <a:pathLst>
              <a:path h="4870808" w="3157665">
                <a:moveTo>
                  <a:pt x="0" y="0"/>
                </a:moveTo>
                <a:lnTo>
                  <a:pt x="3157666" y="0"/>
                </a:lnTo>
                <a:lnTo>
                  <a:pt x="3157666"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090498" y="3924810"/>
            <a:ext cx="7981117" cy="4494781"/>
          </a:xfrm>
          <a:custGeom>
            <a:avLst/>
            <a:gdLst/>
            <a:ahLst/>
            <a:cxnLst/>
            <a:rect r="r" b="b" t="t" l="l"/>
            <a:pathLst>
              <a:path h="4494781" w="7981117">
                <a:moveTo>
                  <a:pt x="0" y="0"/>
                </a:moveTo>
                <a:lnTo>
                  <a:pt x="7981117" y="0"/>
                </a:lnTo>
                <a:lnTo>
                  <a:pt x="7981117" y="4494780"/>
                </a:lnTo>
                <a:lnTo>
                  <a:pt x="0" y="4494780"/>
                </a:lnTo>
                <a:lnTo>
                  <a:pt x="0" y="0"/>
                </a:lnTo>
                <a:close/>
              </a:path>
            </a:pathLst>
          </a:custGeom>
          <a:blipFill>
            <a:blip r:embed="rId7"/>
            <a:stretch>
              <a:fillRect l="0" t="0" r="0" b="0"/>
            </a:stretch>
          </a:blipFill>
        </p:spPr>
      </p:sp>
      <p:sp>
        <p:nvSpPr>
          <p:cNvPr name="TextBox 10" id="10"/>
          <p:cNvSpPr txBox="true"/>
          <p:nvPr/>
        </p:nvSpPr>
        <p:spPr>
          <a:xfrm rot="0">
            <a:off x="2769333" y="652595"/>
            <a:ext cx="13323673" cy="2801089"/>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 Year vs Month PM2.5 Trend</a:t>
            </a:r>
          </a:p>
        </p:txBody>
      </p:sp>
      <p:sp>
        <p:nvSpPr>
          <p:cNvPr name="TextBox 11" id="11"/>
          <p:cNvSpPr txBox="true"/>
          <p:nvPr/>
        </p:nvSpPr>
        <p:spPr>
          <a:xfrm rot="0">
            <a:off x="203454" y="3387008"/>
            <a:ext cx="9887044" cy="6779438"/>
          </a:xfrm>
          <a:prstGeom prst="rect">
            <a:avLst/>
          </a:prstGeom>
        </p:spPr>
        <p:txBody>
          <a:bodyPr anchor="t" rtlCol="false" tIns="0" lIns="0" bIns="0" rIns="0">
            <a:spAutoFit/>
          </a:bodyPr>
          <a:lstStyle/>
          <a:p>
            <a:pPr algn="just">
              <a:lnSpc>
                <a:spcPts val="3818"/>
              </a:lnSpc>
            </a:pPr>
            <a:r>
              <a:rPr lang="en-US" sz="2727">
                <a:solidFill>
                  <a:srgbClr val="4B581A"/>
                </a:solidFill>
                <a:latin typeface="JA Jayagiri Sans"/>
                <a:ea typeface="JA Jayagiri Sans"/>
                <a:cs typeface="JA Jayagiri Sans"/>
                <a:sym typeface="JA Jayagiri Sans"/>
              </a:rPr>
              <a:t>📈 Year vs Month PM2.5 Trend</a:t>
            </a:r>
          </a:p>
          <a:p>
            <a:pPr algn="just">
              <a:lnSpc>
                <a:spcPts val="3818"/>
              </a:lnSpc>
            </a:pPr>
            <a:r>
              <a:rPr lang="en-US" sz="2727">
                <a:solidFill>
                  <a:srgbClr val="4B581A"/>
                </a:solidFill>
                <a:latin typeface="JA Jayagiri Sans"/>
                <a:ea typeface="JA Jayagiri Sans"/>
                <a:cs typeface="JA Jayagiri Sans"/>
                <a:sym typeface="JA Jayagiri Sans"/>
              </a:rPr>
              <a:t>Purpose</a:t>
            </a:r>
          </a:p>
          <a:p>
            <a:pPr algn="just">
              <a:lnSpc>
                <a:spcPts val="3818"/>
              </a:lnSpc>
            </a:pPr>
            <a:r>
              <a:rPr lang="en-US" sz="2727">
                <a:solidFill>
                  <a:srgbClr val="4B581A"/>
                </a:solidFill>
                <a:latin typeface="JA Jayagiri Sans"/>
                <a:ea typeface="JA Jayagiri Sans"/>
                <a:cs typeface="JA Jayagiri Sans"/>
                <a:sym typeface="JA Jayagiri Sans"/>
              </a:rPr>
              <a:t>Shows how the average PM2.5 level changes across different months and years.</a:t>
            </a:r>
          </a:p>
          <a:p>
            <a:pPr algn="just">
              <a:lnSpc>
                <a:spcPts val="3818"/>
              </a:lnSpc>
            </a:pPr>
            <a:r>
              <a:rPr lang="en-US" sz="2727">
                <a:solidFill>
                  <a:srgbClr val="4B581A"/>
                </a:solidFill>
                <a:latin typeface="JA Jayagiri Sans"/>
                <a:ea typeface="JA Jayagiri Sans"/>
                <a:cs typeface="JA Jayagiri Sans"/>
                <a:sym typeface="JA Jayagiri Sans"/>
              </a:rPr>
              <a:t>Key Points</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Compares monthly PM2.5 levels for each year.</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Helps identify pollution trends over time.</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Shows seasonal changes in air pollution.</a:t>
            </a:r>
          </a:p>
          <a:p>
            <a:pPr algn="just">
              <a:lnSpc>
                <a:spcPts val="3818"/>
              </a:lnSpc>
            </a:pPr>
            <a:r>
              <a:rPr lang="en-US" sz="2727">
                <a:solidFill>
                  <a:srgbClr val="4B581A"/>
                </a:solidFill>
                <a:latin typeface="JA Jayagiri Sans"/>
                <a:ea typeface="JA Jayagiri Sans"/>
                <a:cs typeface="JA Jayagiri Sans"/>
                <a:sym typeface="JA Jayagiri Sans"/>
              </a:rPr>
              <a:t>Chart Details</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X-Axis: Year</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Y-Axis: Average PM2.5</a:t>
            </a:r>
          </a:p>
          <a:p>
            <a:pPr algn="just" marL="588892" indent="-294446" lvl="1">
              <a:lnSpc>
                <a:spcPts val="3818"/>
              </a:lnSpc>
              <a:buFont typeface="Arial"/>
              <a:buChar char="•"/>
            </a:pPr>
            <a:r>
              <a:rPr lang="en-US" sz="2727">
                <a:solidFill>
                  <a:srgbClr val="4B581A"/>
                </a:solidFill>
                <a:latin typeface="JA Jayagiri Sans"/>
                <a:ea typeface="JA Jayagiri Sans"/>
                <a:cs typeface="JA Jayagiri Sans"/>
                <a:sym typeface="JA Jayagiri Sans"/>
              </a:rPr>
              <a:t>Lines: Months (January–December)</a:t>
            </a:r>
          </a:p>
          <a:p>
            <a:pPr algn="just">
              <a:lnSpc>
                <a:spcPts val="3818"/>
              </a:lnSpc>
            </a:pPr>
          </a:p>
          <a:p>
            <a:pPr algn="just">
              <a:lnSpc>
                <a:spcPts val="3818"/>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65963" y="-668863"/>
            <a:ext cx="2228856" cy="3438088"/>
          </a:xfrm>
          <a:custGeom>
            <a:avLst/>
            <a:gdLst/>
            <a:ahLst/>
            <a:cxnLst/>
            <a:rect r="r" b="b" t="t" l="l"/>
            <a:pathLst>
              <a:path h="3438088" w="2228856">
                <a:moveTo>
                  <a:pt x="0" y="0"/>
                </a:moveTo>
                <a:lnTo>
                  <a:pt x="2228856" y="0"/>
                </a:lnTo>
                <a:lnTo>
                  <a:pt x="2228856" y="3438088"/>
                </a:lnTo>
                <a:lnTo>
                  <a:pt x="0" y="343808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732000">
            <a:off x="-803738" y="-918862"/>
            <a:ext cx="8974423" cy="3340702"/>
          </a:xfrm>
          <a:custGeom>
            <a:avLst/>
            <a:gdLst/>
            <a:ahLst/>
            <a:cxnLst/>
            <a:rect r="r" b="b" t="t" l="l"/>
            <a:pathLst>
              <a:path h="3340702" w="8974423">
                <a:moveTo>
                  <a:pt x="0" y="1871668"/>
                </a:moveTo>
                <a:lnTo>
                  <a:pt x="8656807" y="0"/>
                </a:lnTo>
                <a:lnTo>
                  <a:pt x="8974423" y="1469034"/>
                </a:lnTo>
                <a:lnTo>
                  <a:pt x="317617" y="3340701"/>
                </a:lnTo>
                <a:lnTo>
                  <a:pt x="0" y="1871668"/>
                </a:lnTo>
                <a:close/>
              </a:path>
            </a:pathLst>
          </a:custGeom>
          <a:blipFill>
            <a:blip r:embed="rId5">
              <a:extLst>
                <a:ext uri="{96DAC541-7B7A-43D3-8B79-37D633B846F1}">
                  <asvg:svgBlip xmlns:asvg="http://schemas.microsoft.com/office/drawing/2016/SVG/main" r:embed="rId6"/>
                </a:ext>
              </a:extLst>
            </a:blip>
            <a:stretch>
              <a:fillRect l="-85555" t="-17445" r="-101929" b="-13610"/>
            </a:stretch>
          </a:blipFill>
        </p:spPr>
      </p:sp>
      <p:sp>
        <p:nvSpPr>
          <p:cNvPr name="Freeform 9" id="9"/>
          <p:cNvSpPr/>
          <p:nvPr/>
        </p:nvSpPr>
        <p:spPr>
          <a:xfrm flipH="false" flipV="false" rot="0">
            <a:off x="9973739" y="3348522"/>
            <a:ext cx="6724813" cy="5647357"/>
          </a:xfrm>
          <a:custGeom>
            <a:avLst/>
            <a:gdLst/>
            <a:ahLst/>
            <a:cxnLst/>
            <a:rect r="r" b="b" t="t" l="l"/>
            <a:pathLst>
              <a:path h="5647357" w="6724813">
                <a:moveTo>
                  <a:pt x="0" y="0"/>
                </a:moveTo>
                <a:lnTo>
                  <a:pt x="6724813" y="0"/>
                </a:lnTo>
                <a:lnTo>
                  <a:pt x="6724813" y="5647356"/>
                </a:lnTo>
                <a:lnTo>
                  <a:pt x="0" y="5647356"/>
                </a:lnTo>
                <a:lnTo>
                  <a:pt x="0" y="0"/>
                </a:lnTo>
                <a:close/>
              </a:path>
            </a:pathLst>
          </a:custGeom>
          <a:blipFill>
            <a:blip r:embed="rId7"/>
            <a:stretch>
              <a:fillRect l="0" t="0" r="0" b="0"/>
            </a:stretch>
          </a:blipFill>
        </p:spPr>
      </p:sp>
      <p:sp>
        <p:nvSpPr>
          <p:cNvPr name="TextBox 10" id="10"/>
          <p:cNvSpPr txBox="true"/>
          <p:nvPr/>
        </p:nvSpPr>
        <p:spPr>
          <a:xfrm rot="0">
            <a:off x="2702486" y="804282"/>
            <a:ext cx="11965260" cy="1952235"/>
          </a:xfrm>
          <a:prstGeom prst="rect">
            <a:avLst/>
          </a:prstGeom>
        </p:spPr>
        <p:txBody>
          <a:bodyPr anchor="t" rtlCol="false" tIns="0" lIns="0" bIns="0" rIns="0">
            <a:spAutoFit/>
          </a:bodyPr>
          <a:lstStyle/>
          <a:p>
            <a:pPr algn="ctr">
              <a:lnSpc>
                <a:spcPts val="7657"/>
              </a:lnSpc>
            </a:pPr>
            <a:r>
              <a:rPr lang="en-US" sz="5469">
                <a:solidFill>
                  <a:srgbClr val="788838"/>
                </a:solidFill>
                <a:latin typeface="Brasika"/>
                <a:ea typeface="Brasika"/>
                <a:cs typeface="Brasika"/>
                <a:sym typeface="Brasika"/>
              </a:rPr>
              <a:t>Hour-wise pollution visualization:</a:t>
            </a:r>
          </a:p>
        </p:txBody>
      </p:sp>
      <p:sp>
        <p:nvSpPr>
          <p:cNvPr name="TextBox 11" id="11"/>
          <p:cNvSpPr txBox="true"/>
          <p:nvPr/>
        </p:nvSpPr>
        <p:spPr>
          <a:xfrm rot="0">
            <a:off x="238540" y="3549032"/>
            <a:ext cx="9192630" cy="5992591"/>
          </a:xfrm>
          <a:prstGeom prst="rect">
            <a:avLst/>
          </a:prstGeom>
        </p:spPr>
        <p:txBody>
          <a:bodyPr anchor="t" rtlCol="false" tIns="0" lIns="0" bIns="0" rIns="0">
            <a:spAutoFit/>
          </a:bodyPr>
          <a:lstStyle/>
          <a:p>
            <a:pPr algn="just">
              <a:lnSpc>
                <a:spcPts val="3946"/>
              </a:lnSpc>
            </a:pPr>
            <a:r>
              <a:rPr lang="en-US" sz="2818">
                <a:solidFill>
                  <a:srgbClr val="4B581A"/>
                </a:solidFill>
                <a:latin typeface="JA Jayagiri Sans"/>
                <a:ea typeface="JA Jayagiri Sans"/>
                <a:cs typeface="JA Jayagiri Sans"/>
                <a:sym typeface="JA Jayagiri Sans"/>
              </a:rPr>
              <a:t>Purpose</a:t>
            </a:r>
          </a:p>
          <a:p>
            <a:pPr algn="just">
              <a:lnSpc>
                <a:spcPts val="3946"/>
              </a:lnSpc>
            </a:pPr>
            <a:r>
              <a:rPr lang="en-US" sz="2818">
                <a:solidFill>
                  <a:srgbClr val="4B581A"/>
                </a:solidFill>
                <a:latin typeface="JA Jayagiri Sans"/>
                <a:ea typeface="JA Jayagiri Sans"/>
                <a:cs typeface="JA Jayagiri Sans"/>
                <a:sym typeface="JA Jayagiri Sans"/>
              </a:rPr>
              <a:t>Shows the average PM2.5 level at different hours of the day.</a:t>
            </a:r>
          </a:p>
          <a:p>
            <a:pPr algn="just">
              <a:lnSpc>
                <a:spcPts val="3946"/>
              </a:lnSpc>
            </a:pPr>
            <a:r>
              <a:rPr lang="en-US" sz="2818">
                <a:solidFill>
                  <a:srgbClr val="4B581A"/>
                </a:solidFill>
                <a:latin typeface="JA Jayagiri Sans"/>
                <a:ea typeface="JA Jayagiri Sans"/>
                <a:cs typeface="JA Jayagiri Sans"/>
                <a:sym typeface="JA Jayagiri Sans"/>
              </a:rPr>
              <a:t>Key Points</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PM2.5 changes throughout the day.</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Pollution is higher during evening hours.</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Pollution is lower around midday.</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Helps identify peak pollution hours.</a:t>
            </a:r>
          </a:p>
          <a:p>
            <a:pPr algn="just">
              <a:lnSpc>
                <a:spcPts val="3946"/>
              </a:lnSpc>
            </a:pPr>
            <a:r>
              <a:rPr lang="en-US" sz="2818">
                <a:solidFill>
                  <a:srgbClr val="4B581A"/>
                </a:solidFill>
                <a:latin typeface="JA Jayagiri Sans"/>
                <a:ea typeface="JA Jayagiri Sans"/>
                <a:cs typeface="JA Jayagiri Sans"/>
                <a:sym typeface="JA Jayagiri Sans"/>
              </a:rPr>
              <a:t>Chart Details</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X-Axis: Hour</a:t>
            </a:r>
          </a:p>
          <a:p>
            <a:pPr algn="just" marL="608530" indent="-304265" lvl="1">
              <a:lnSpc>
                <a:spcPts val="3946"/>
              </a:lnSpc>
              <a:buFont typeface="Arial"/>
              <a:buChar char="•"/>
            </a:pPr>
            <a:r>
              <a:rPr lang="en-US" sz="2818">
                <a:solidFill>
                  <a:srgbClr val="4B581A"/>
                </a:solidFill>
                <a:latin typeface="JA Jayagiri Sans"/>
                <a:ea typeface="JA Jayagiri Sans"/>
                <a:cs typeface="JA Jayagiri Sans"/>
                <a:sym typeface="JA Jayagiri Sans"/>
              </a:rPr>
              <a:t>Y-Axis: Average PM2.5</a:t>
            </a:r>
          </a:p>
          <a:p>
            <a:pPr algn="just">
              <a:lnSpc>
                <a:spcPts val="3946"/>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73750" y="-665055"/>
            <a:ext cx="2268129" cy="3498667"/>
          </a:xfrm>
          <a:custGeom>
            <a:avLst/>
            <a:gdLst/>
            <a:ahLst/>
            <a:cxnLst/>
            <a:rect r="r" b="b" t="t" l="l"/>
            <a:pathLst>
              <a:path h="3498667" w="2268129">
                <a:moveTo>
                  <a:pt x="0" y="0"/>
                </a:moveTo>
                <a:lnTo>
                  <a:pt x="2268128" y="0"/>
                </a:lnTo>
                <a:lnTo>
                  <a:pt x="2268128" y="3498667"/>
                </a:lnTo>
                <a:lnTo>
                  <a:pt x="0" y="3498667"/>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585036" y="3053533"/>
            <a:ext cx="7109348" cy="5640166"/>
          </a:xfrm>
          <a:custGeom>
            <a:avLst/>
            <a:gdLst/>
            <a:ahLst/>
            <a:cxnLst/>
            <a:rect r="r" b="b" t="t" l="l"/>
            <a:pathLst>
              <a:path h="5640166" w="7109348">
                <a:moveTo>
                  <a:pt x="0" y="0"/>
                </a:moveTo>
                <a:lnTo>
                  <a:pt x="7109348" y="0"/>
                </a:lnTo>
                <a:lnTo>
                  <a:pt x="7109348" y="5640166"/>
                </a:lnTo>
                <a:lnTo>
                  <a:pt x="0" y="5640166"/>
                </a:lnTo>
                <a:lnTo>
                  <a:pt x="0" y="0"/>
                </a:lnTo>
                <a:close/>
              </a:path>
            </a:pathLst>
          </a:custGeom>
          <a:blipFill>
            <a:blip r:embed="rId7"/>
            <a:stretch>
              <a:fillRect l="0" t="0" r="0" b="0"/>
            </a:stretch>
          </a:blipFill>
        </p:spPr>
      </p:sp>
      <p:sp>
        <p:nvSpPr>
          <p:cNvPr name="TextBox 10" id="10"/>
          <p:cNvSpPr txBox="true"/>
          <p:nvPr/>
        </p:nvSpPr>
        <p:spPr>
          <a:xfrm rot="0">
            <a:off x="4148290" y="1600359"/>
            <a:ext cx="9991420" cy="1415560"/>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 Scatter plot :</a:t>
            </a:r>
          </a:p>
        </p:txBody>
      </p:sp>
      <p:sp>
        <p:nvSpPr>
          <p:cNvPr name="TextBox 11" id="11"/>
          <p:cNvSpPr txBox="true"/>
          <p:nvPr/>
        </p:nvSpPr>
        <p:spPr>
          <a:xfrm rot="0">
            <a:off x="0" y="2996383"/>
            <a:ext cx="10072889" cy="7205679"/>
          </a:xfrm>
          <a:prstGeom prst="rect">
            <a:avLst/>
          </a:prstGeom>
        </p:spPr>
        <p:txBody>
          <a:bodyPr anchor="t" rtlCol="false" tIns="0" lIns="0" bIns="0" rIns="0">
            <a:spAutoFit/>
          </a:bodyPr>
          <a:lstStyle/>
          <a:p>
            <a:pPr algn="just">
              <a:lnSpc>
                <a:spcPts val="3792"/>
              </a:lnSpc>
            </a:pPr>
          </a:p>
          <a:p>
            <a:pPr algn="just">
              <a:lnSpc>
                <a:spcPts val="3792"/>
              </a:lnSpc>
            </a:pPr>
            <a:r>
              <a:rPr lang="en-US" sz="2709">
                <a:solidFill>
                  <a:srgbClr val="4B581A"/>
                </a:solidFill>
                <a:latin typeface="JA Jayagiri Sans"/>
                <a:ea typeface="JA Jayagiri Sans"/>
                <a:cs typeface="JA Jayagiri Sans"/>
                <a:sym typeface="JA Jayagiri Sans"/>
              </a:rPr>
              <a:t>📍 Hour vs PM2.5 Scatter Plot</a:t>
            </a:r>
          </a:p>
          <a:p>
            <a:pPr algn="just">
              <a:lnSpc>
                <a:spcPts val="3792"/>
              </a:lnSpc>
            </a:pPr>
            <a:r>
              <a:rPr lang="en-US" sz="2709">
                <a:solidFill>
                  <a:srgbClr val="4B581A"/>
                </a:solidFill>
                <a:latin typeface="JA Jayagiri Sans"/>
                <a:ea typeface="JA Jayagiri Sans"/>
                <a:cs typeface="JA Jayagiri Sans"/>
                <a:sym typeface="JA Jayagiri Sans"/>
              </a:rPr>
              <a:t>Purpose</a:t>
            </a:r>
          </a:p>
          <a:p>
            <a:pPr algn="just">
              <a:lnSpc>
                <a:spcPts val="3792"/>
              </a:lnSpc>
            </a:pPr>
            <a:r>
              <a:rPr lang="en-US" sz="2709">
                <a:solidFill>
                  <a:srgbClr val="4B581A"/>
                </a:solidFill>
                <a:latin typeface="JA Jayagiri Sans"/>
                <a:ea typeface="JA Jayagiri Sans"/>
                <a:cs typeface="JA Jayagiri Sans"/>
                <a:sym typeface="JA Jayagiri Sans"/>
              </a:rPr>
              <a:t>Shows the relationship between hour and PM2.5 levels.</a:t>
            </a:r>
          </a:p>
          <a:p>
            <a:pPr algn="just">
              <a:lnSpc>
                <a:spcPts val="3792"/>
              </a:lnSpc>
            </a:pPr>
            <a:r>
              <a:rPr lang="en-US" sz="2709">
                <a:solidFill>
                  <a:srgbClr val="4B581A"/>
                </a:solidFill>
                <a:latin typeface="JA Jayagiri Sans"/>
                <a:ea typeface="JA Jayagiri Sans"/>
                <a:cs typeface="JA Jayagiri Sans"/>
                <a:sym typeface="JA Jayagiri Sans"/>
              </a:rPr>
              <a:t>Key Points</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PM2.5 levels vary at different hours.</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Higher pollution is observed during some evening hours.</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Lower pollution is seen around midday.</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Helps identify pollution patterns throughout the day.</a:t>
            </a:r>
          </a:p>
          <a:p>
            <a:pPr algn="just">
              <a:lnSpc>
                <a:spcPts val="3792"/>
              </a:lnSpc>
            </a:pPr>
            <a:r>
              <a:rPr lang="en-US" sz="2709">
                <a:solidFill>
                  <a:srgbClr val="4B581A"/>
                </a:solidFill>
                <a:latin typeface="JA Jayagiri Sans"/>
                <a:ea typeface="JA Jayagiri Sans"/>
                <a:cs typeface="JA Jayagiri Sans"/>
                <a:sym typeface="JA Jayagiri Sans"/>
              </a:rPr>
              <a:t>Chart Details</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X-Axis: Hour</a:t>
            </a:r>
          </a:p>
          <a:p>
            <a:pPr algn="just" marL="584910" indent="-292455" lvl="1">
              <a:lnSpc>
                <a:spcPts val="3792"/>
              </a:lnSpc>
              <a:buFont typeface="Arial"/>
              <a:buChar char="•"/>
            </a:pPr>
            <a:r>
              <a:rPr lang="en-US" sz="2709">
                <a:solidFill>
                  <a:srgbClr val="4B581A"/>
                </a:solidFill>
                <a:latin typeface="JA Jayagiri Sans"/>
                <a:ea typeface="JA Jayagiri Sans"/>
                <a:cs typeface="JA Jayagiri Sans"/>
                <a:sym typeface="JA Jayagiri Sans"/>
              </a:rPr>
              <a:t>Y-Axis: PM2.5</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344681" y="-679271"/>
            <a:ext cx="2121524" cy="3272524"/>
          </a:xfrm>
          <a:custGeom>
            <a:avLst/>
            <a:gdLst/>
            <a:ahLst/>
            <a:cxnLst/>
            <a:rect r="r" b="b" t="t" l="l"/>
            <a:pathLst>
              <a:path h="3272524" w="2121524">
                <a:moveTo>
                  <a:pt x="0" y="0"/>
                </a:moveTo>
                <a:lnTo>
                  <a:pt x="2121524" y="0"/>
                </a:lnTo>
                <a:lnTo>
                  <a:pt x="2121524" y="3272525"/>
                </a:lnTo>
                <a:lnTo>
                  <a:pt x="0" y="3272525"/>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9144000" y="3376343"/>
            <a:ext cx="7490057" cy="5591715"/>
          </a:xfrm>
          <a:custGeom>
            <a:avLst/>
            <a:gdLst/>
            <a:ahLst/>
            <a:cxnLst/>
            <a:rect r="r" b="b" t="t" l="l"/>
            <a:pathLst>
              <a:path h="5591715" w="7490057">
                <a:moveTo>
                  <a:pt x="0" y="0"/>
                </a:moveTo>
                <a:lnTo>
                  <a:pt x="7490057" y="0"/>
                </a:lnTo>
                <a:lnTo>
                  <a:pt x="7490057" y="5591714"/>
                </a:lnTo>
                <a:lnTo>
                  <a:pt x="0" y="5591714"/>
                </a:lnTo>
                <a:lnTo>
                  <a:pt x="0" y="0"/>
                </a:lnTo>
                <a:close/>
              </a:path>
            </a:pathLst>
          </a:custGeom>
          <a:blipFill>
            <a:blip r:embed="rId7"/>
            <a:stretch>
              <a:fillRect l="0" t="0" r="0" b="0"/>
            </a:stretch>
          </a:blipFill>
        </p:spPr>
      </p:sp>
      <p:sp>
        <p:nvSpPr>
          <p:cNvPr name="TextBox 10" id="10"/>
          <p:cNvSpPr txBox="true"/>
          <p:nvPr/>
        </p:nvSpPr>
        <p:spPr>
          <a:xfrm rot="0">
            <a:off x="3931589" y="1388677"/>
            <a:ext cx="8957439" cy="1474482"/>
          </a:xfrm>
          <a:prstGeom prst="rect">
            <a:avLst/>
          </a:prstGeom>
        </p:spPr>
        <p:txBody>
          <a:bodyPr anchor="t" rtlCol="false" tIns="0" lIns="0" bIns="0" rIns="0">
            <a:spAutoFit/>
          </a:bodyPr>
          <a:lstStyle/>
          <a:p>
            <a:pPr algn="ctr">
              <a:lnSpc>
                <a:spcPts val="5786"/>
              </a:lnSpc>
            </a:pPr>
            <a:r>
              <a:rPr lang="en-US" sz="4133">
                <a:solidFill>
                  <a:srgbClr val="788838"/>
                </a:solidFill>
                <a:latin typeface="Brasika"/>
                <a:ea typeface="Brasika"/>
                <a:cs typeface="Brasika"/>
                <a:sym typeface="Brasika"/>
              </a:rPr>
              <a:t>### Distribution of PM2.5:</a:t>
            </a:r>
          </a:p>
          <a:p>
            <a:pPr algn="ctr">
              <a:lnSpc>
                <a:spcPts val="5786"/>
              </a:lnSpc>
            </a:pPr>
            <a:r>
              <a:rPr lang="en-US" sz="4133">
                <a:solidFill>
                  <a:srgbClr val="788838"/>
                </a:solidFill>
                <a:latin typeface="Brasika"/>
                <a:ea typeface="Brasika"/>
                <a:cs typeface="Brasika"/>
                <a:sym typeface="Brasika"/>
              </a:rPr>
              <a:t>* Tells pollution spread</a:t>
            </a:r>
          </a:p>
        </p:txBody>
      </p:sp>
      <p:sp>
        <p:nvSpPr>
          <p:cNvPr name="TextBox 11" id="11"/>
          <p:cNvSpPr txBox="true"/>
          <p:nvPr/>
        </p:nvSpPr>
        <p:spPr>
          <a:xfrm rot="0">
            <a:off x="0" y="2692570"/>
            <a:ext cx="8496974" cy="7317218"/>
          </a:xfrm>
          <a:prstGeom prst="rect">
            <a:avLst/>
          </a:prstGeom>
        </p:spPr>
        <p:txBody>
          <a:bodyPr anchor="t" rtlCol="false" tIns="0" lIns="0" bIns="0" rIns="0">
            <a:spAutoFit/>
          </a:bodyPr>
          <a:lstStyle/>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 Distribution of PM2.5</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Purpose</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Shows how PM2.5 values are distributed in the dataset.</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Key Points</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Most PM2.5 values are between 20 and 80.</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High PM2.5 values occur less frequently.</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Shows the spread of air pollution levels.</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Helps understand the overall distribution of PM2.5.</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Chart Details</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X-Axis: PM2.5</a:t>
            </a:r>
          </a:p>
          <a:p>
            <a:pPr algn="just" marL="593257" indent="-296629" lvl="1">
              <a:lnSpc>
                <a:spcPts val="3846"/>
              </a:lnSpc>
              <a:buFont typeface="Arial"/>
              <a:buChar char="•"/>
            </a:pPr>
            <a:r>
              <a:rPr lang="en-US" sz="2747">
                <a:solidFill>
                  <a:srgbClr val="4B581A"/>
                </a:solidFill>
                <a:latin typeface="JA Jayagiri Sans"/>
                <a:ea typeface="JA Jayagiri Sans"/>
                <a:cs typeface="JA Jayagiri Sans"/>
                <a:sym typeface="JA Jayagiri Sans"/>
              </a:rPr>
              <a:t>Y-Axis: Frequency</a:t>
            </a:r>
          </a:p>
          <a:p>
            <a:pPr algn="just" marL="593257" indent="-296629" lvl="1">
              <a:lnSpc>
                <a:spcPts val="3846"/>
              </a:lnSpc>
              <a:buFont typeface="Arial"/>
              <a:buChar char="•"/>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972621"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228513" y="-1723297"/>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5731177" y="847725"/>
            <a:ext cx="7859645" cy="2204596"/>
          </a:xfrm>
          <a:prstGeom prst="rect">
            <a:avLst/>
          </a:prstGeom>
        </p:spPr>
        <p:txBody>
          <a:bodyPr anchor="t" rtlCol="false" tIns="0" lIns="0" bIns="0" rIns="0">
            <a:spAutoFit/>
          </a:bodyPr>
          <a:lstStyle/>
          <a:p>
            <a:pPr algn="ctr">
              <a:lnSpc>
                <a:spcPts val="8609"/>
              </a:lnSpc>
            </a:pPr>
            <a:r>
              <a:rPr lang="en-US" sz="6149">
                <a:solidFill>
                  <a:srgbClr val="788838"/>
                </a:solidFill>
                <a:latin typeface="Brasika"/>
                <a:ea typeface="Brasika"/>
                <a:cs typeface="Brasika"/>
                <a:sym typeface="Brasika"/>
              </a:rPr>
              <a:t>Outlier Detection:</a:t>
            </a:r>
          </a:p>
          <a:p>
            <a:pPr algn="ctr">
              <a:lnSpc>
                <a:spcPts val="8609"/>
              </a:lnSpc>
            </a:pPr>
          </a:p>
        </p:txBody>
      </p:sp>
      <p:sp>
        <p:nvSpPr>
          <p:cNvPr name="TextBox 10" id="10"/>
          <p:cNvSpPr txBox="true"/>
          <p:nvPr/>
        </p:nvSpPr>
        <p:spPr>
          <a:xfrm rot="0">
            <a:off x="350320" y="2815774"/>
            <a:ext cx="11895009" cy="7194015"/>
          </a:xfrm>
          <a:prstGeom prst="rect">
            <a:avLst/>
          </a:prstGeom>
        </p:spPr>
        <p:txBody>
          <a:bodyPr anchor="t" rtlCol="false" tIns="0" lIns="0" bIns="0" rIns="0">
            <a:spAutoFit/>
          </a:bodyPr>
          <a:lstStyle/>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 Outlier Detection (Box Plot)</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Purpose</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Shows unusual or extreme PM2.5 values in the dataset.</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Key Points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Identifies outliers in PM2.5 values.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Most PM2.5 values are within the normal range.</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A few values are much higher than the rest.</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Helps detect unusual pollution levels.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Chart Details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Y-Axis: PM2.5</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Dots: Outlier values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Box: Normal range of PM2.5 values</a:t>
            </a:r>
          </a:p>
          <a:p>
            <a:pPr algn="just" marL="625262" indent="-312631" lvl="1">
              <a:lnSpc>
                <a:spcPts val="4054"/>
              </a:lnSpc>
              <a:buFont typeface="Arial"/>
              <a:buChar char="•"/>
            </a:pPr>
          </a:p>
        </p:txBody>
      </p:sp>
      <p:sp>
        <p:nvSpPr>
          <p:cNvPr name="Freeform 11" id="11"/>
          <p:cNvSpPr/>
          <p:nvPr/>
        </p:nvSpPr>
        <p:spPr>
          <a:xfrm flipH="false" flipV="false" rot="0">
            <a:off x="10928955" y="4292649"/>
            <a:ext cx="6912620" cy="5422399"/>
          </a:xfrm>
          <a:custGeom>
            <a:avLst/>
            <a:gdLst/>
            <a:ahLst/>
            <a:cxnLst/>
            <a:rect r="r" b="b" t="t" l="l"/>
            <a:pathLst>
              <a:path h="5422399" w="6912620">
                <a:moveTo>
                  <a:pt x="0" y="0"/>
                </a:moveTo>
                <a:lnTo>
                  <a:pt x="6912619" y="0"/>
                </a:lnTo>
                <a:lnTo>
                  <a:pt x="6912619" y="5422399"/>
                </a:lnTo>
                <a:lnTo>
                  <a:pt x="0" y="5422399"/>
                </a:lnTo>
                <a:lnTo>
                  <a:pt x="0" y="0"/>
                </a:lnTo>
                <a:close/>
              </a:path>
            </a:pathLst>
          </a:custGeom>
          <a:blipFill>
            <a:blip r:embed="rId7"/>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200247" y="-1683915"/>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78586" y="2740278"/>
            <a:ext cx="10327553" cy="7708365"/>
          </a:xfrm>
          <a:prstGeom prst="rect">
            <a:avLst/>
          </a:prstGeom>
        </p:spPr>
        <p:txBody>
          <a:bodyPr anchor="t" rtlCol="false" tIns="0" lIns="0" bIns="0" rIns="0">
            <a:spAutoFit/>
          </a:bodyPr>
          <a:lstStyle/>
          <a:p>
            <a:pPr algn="just">
              <a:lnSpc>
                <a:spcPts val="4054"/>
              </a:lnSpc>
            </a:pPr>
            <a:r>
              <a:rPr lang="en-US" sz="2896">
                <a:solidFill>
                  <a:srgbClr val="4B581A"/>
                </a:solidFill>
                <a:latin typeface="JA Jayagiri Sans"/>
                <a:ea typeface="JA Jayagiri Sans"/>
                <a:cs typeface="JA Jayagiri Sans"/>
                <a:sym typeface="JA Jayagiri Sans"/>
              </a:rPr>
              <a:t>🔥 Correlation Heatmap</a:t>
            </a:r>
          </a:p>
          <a:p>
            <a:pPr algn="just">
              <a:lnSpc>
                <a:spcPts val="4054"/>
              </a:lnSpc>
            </a:pPr>
            <a:r>
              <a:rPr lang="en-US" sz="2896">
                <a:solidFill>
                  <a:srgbClr val="4B581A"/>
                </a:solidFill>
                <a:latin typeface="JA Jayagiri Sans"/>
                <a:ea typeface="JA Jayagiri Sans"/>
                <a:cs typeface="JA Jayagiri Sans"/>
                <a:sym typeface="JA Jayagiri Sans"/>
              </a:rPr>
              <a:t>Purpose</a:t>
            </a:r>
          </a:p>
          <a:p>
            <a:pPr algn="just">
              <a:lnSpc>
                <a:spcPts val="4054"/>
              </a:lnSpc>
            </a:pPr>
            <a:r>
              <a:rPr lang="en-US" sz="2896">
                <a:solidFill>
                  <a:srgbClr val="4B581A"/>
                </a:solidFill>
                <a:latin typeface="JA Jayagiri Sans"/>
                <a:ea typeface="JA Jayagiri Sans"/>
                <a:cs typeface="JA Jayagiri Sans"/>
                <a:sym typeface="JA Jayagiri Sans"/>
              </a:rPr>
              <a:t>Shows the relationship between PM2.5 and other variables using different colors.</a:t>
            </a:r>
          </a:p>
          <a:p>
            <a:pPr algn="just">
              <a:lnSpc>
                <a:spcPts val="4054"/>
              </a:lnSpc>
            </a:pPr>
            <a:r>
              <a:rPr lang="en-US" sz="2896">
                <a:solidFill>
                  <a:srgbClr val="4B581A"/>
                </a:solidFill>
                <a:latin typeface="JA Jayagiri Sans"/>
                <a:ea typeface="JA Jayagiri Sans"/>
                <a:cs typeface="JA Jayagiri Sans"/>
                <a:sym typeface="JA Jayagiri Sans"/>
              </a:rPr>
              <a:t>Key Points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Displays the correlation between variables.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Helps identify positive and negative relationships.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Darker colors indicate stronger correlation.</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Useful for understanding data patterns.</a:t>
            </a:r>
          </a:p>
          <a:p>
            <a:pPr algn="just">
              <a:lnSpc>
                <a:spcPts val="4054"/>
              </a:lnSpc>
            </a:pPr>
            <a:r>
              <a:rPr lang="en-US" sz="2896">
                <a:solidFill>
                  <a:srgbClr val="4B581A"/>
                </a:solidFill>
                <a:latin typeface="JA Jayagiri Sans"/>
                <a:ea typeface="JA Jayagiri Sans"/>
                <a:cs typeface="JA Jayagiri Sans"/>
                <a:sym typeface="JA Jayagiri Sans"/>
              </a:rPr>
              <a:t>Chart Details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Rows &amp; Columns: Year, Month, Day, Hour, PM2.5</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Colors: Show the strength of correlation</a:t>
            </a:r>
          </a:p>
          <a:p>
            <a:pPr algn="just">
              <a:lnSpc>
                <a:spcPts val="4054"/>
              </a:lnSpc>
            </a:pPr>
          </a:p>
        </p:txBody>
      </p:sp>
      <p:sp>
        <p:nvSpPr>
          <p:cNvPr name="Freeform 10" id="10"/>
          <p:cNvSpPr/>
          <p:nvPr/>
        </p:nvSpPr>
        <p:spPr>
          <a:xfrm flipH="false" flipV="false" rot="7672961">
            <a:off x="-1047847" y="-1531515"/>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11" id="11"/>
          <p:cNvSpPr/>
          <p:nvPr/>
        </p:nvSpPr>
        <p:spPr>
          <a:xfrm flipH="false" flipV="false" rot="0">
            <a:off x="11022350" y="3820027"/>
            <a:ext cx="7265650" cy="5438273"/>
          </a:xfrm>
          <a:custGeom>
            <a:avLst/>
            <a:gdLst/>
            <a:ahLst/>
            <a:cxnLst/>
            <a:rect r="r" b="b" t="t" l="l"/>
            <a:pathLst>
              <a:path h="5438273" w="7265650">
                <a:moveTo>
                  <a:pt x="0" y="0"/>
                </a:moveTo>
                <a:lnTo>
                  <a:pt x="7265650" y="0"/>
                </a:lnTo>
                <a:lnTo>
                  <a:pt x="7265650" y="5438273"/>
                </a:lnTo>
                <a:lnTo>
                  <a:pt x="0" y="5438273"/>
                </a:lnTo>
                <a:lnTo>
                  <a:pt x="0" y="0"/>
                </a:lnTo>
                <a:close/>
              </a:path>
            </a:pathLst>
          </a:custGeom>
          <a:blipFill>
            <a:blip r:embed="rId7"/>
            <a:stretch>
              <a:fillRect l="0" t="0" r="0" b="0"/>
            </a:stretch>
          </a:blipFill>
        </p:spPr>
      </p:sp>
      <p:sp>
        <p:nvSpPr>
          <p:cNvPr name="TextBox 12" id="12"/>
          <p:cNvSpPr txBox="true"/>
          <p:nvPr/>
        </p:nvSpPr>
        <p:spPr>
          <a:xfrm rot="0">
            <a:off x="4602650" y="1153915"/>
            <a:ext cx="10778095" cy="1952235"/>
          </a:xfrm>
          <a:prstGeom prst="rect">
            <a:avLst/>
          </a:prstGeom>
        </p:spPr>
        <p:txBody>
          <a:bodyPr anchor="t" rtlCol="false" tIns="0" lIns="0" bIns="0" rIns="0">
            <a:spAutoFit/>
          </a:bodyPr>
          <a:lstStyle/>
          <a:p>
            <a:pPr algn="ctr">
              <a:lnSpc>
                <a:spcPts val="7657"/>
              </a:lnSpc>
            </a:pPr>
            <a:r>
              <a:rPr lang="en-US" sz="5469">
                <a:solidFill>
                  <a:srgbClr val="788838"/>
                </a:solidFill>
                <a:latin typeface="Brasika"/>
                <a:ea typeface="Brasika"/>
                <a:cs typeface="Brasika"/>
                <a:sym typeface="Brasika"/>
              </a:rPr>
              <a:t>### Heatmap visualization:</a:t>
            </a:r>
          </a:p>
          <a:p>
            <a:pPr algn="ctr">
              <a:lnSpc>
                <a:spcPts val="7657"/>
              </a:lnSpc>
            </a:pPr>
            <a:r>
              <a:rPr lang="en-US" sz="5469">
                <a:solidFill>
                  <a:srgbClr val="788838"/>
                </a:solidFill>
                <a:latin typeface="Brasika"/>
                <a:ea typeface="Brasika"/>
                <a:cs typeface="Brasika"/>
                <a:sym typeface="Brasika"/>
              </a:rPr>
              <a:t>*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1531134" y="-3086100"/>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974120" y="-1992097"/>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0508510" y="6172200"/>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779673" y="6975924"/>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610947">
            <a:off x="13859585" y="-2254049"/>
            <a:ext cx="7224756" cy="6565497"/>
          </a:xfrm>
          <a:custGeom>
            <a:avLst/>
            <a:gdLst/>
            <a:ahLst/>
            <a:cxnLst/>
            <a:rect r="r" b="b" t="t" l="l"/>
            <a:pathLst>
              <a:path h="6565497" w="7224756">
                <a:moveTo>
                  <a:pt x="0" y="0"/>
                </a:moveTo>
                <a:lnTo>
                  <a:pt x="7224756" y="0"/>
                </a:lnTo>
                <a:lnTo>
                  <a:pt x="7224756" y="6565498"/>
                </a:lnTo>
                <a:lnTo>
                  <a:pt x="0" y="6565498"/>
                </a:lnTo>
                <a:lnTo>
                  <a:pt x="0" y="0"/>
                </a:lnTo>
                <a:close/>
              </a:path>
            </a:pathLst>
          </a:custGeom>
          <a:blipFill>
            <a:blip r:embed="rId4"/>
            <a:stretch>
              <a:fillRect l="0" t="0" r="0" b="0"/>
            </a:stretch>
          </a:blipFill>
        </p:spPr>
      </p:sp>
      <p:sp>
        <p:nvSpPr>
          <p:cNvPr name="Freeform 7" id="7"/>
          <p:cNvSpPr/>
          <p:nvPr/>
        </p:nvSpPr>
        <p:spPr>
          <a:xfrm flipH="false" flipV="false" rot="0">
            <a:off x="943117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44941" y="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0508510" y="3376343"/>
            <a:ext cx="7128468" cy="5591715"/>
          </a:xfrm>
          <a:custGeom>
            <a:avLst/>
            <a:gdLst/>
            <a:ahLst/>
            <a:cxnLst/>
            <a:rect r="r" b="b" t="t" l="l"/>
            <a:pathLst>
              <a:path h="5591715" w="7128468">
                <a:moveTo>
                  <a:pt x="0" y="0"/>
                </a:moveTo>
                <a:lnTo>
                  <a:pt x="7128468" y="0"/>
                </a:lnTo>
                <a:lnTo>
                  <a:pt x="7128468" y="5591714"/>
                </a:lnTo>
                <a:lnTo>
                  <a:pt x="0" y="5591714"/>
                </a:lnTo>
                <a:lnTo>
                  <a:pt x="0" y="0"/>
                </a:lnTo>
                <a:close/>
              </a:path>
            </a:pathLst>
          </a:custGeom>
          <a:blipFill>
            <a:blip r:embed="rId7"/>
            <a:stretch>
              <a:fillRect l="0" t="0" r="0" b="0"/>
            </a:stretch>
          </a:blipFill>
        </p:spPr>
      </p:sp>
      <p:sp>
        <p:nvSpPr>
          <p:cNvPr name="TextBox 10" id="10"/>
          <p:cNvSpPr txBox="true"/>
          <p:nvPr/>
        </p:nvSpPr>
        <p:spPr>
          <a:xfrm rot="0">
            <a:off x="5997095" y="1667034"/>
            <a:ext cx="8653766" cy="1008754"/>
          </a:xfrm>
          <a:prstGeom prst="rect">
            <a:avLst/>
          </a:prstGeom>
        </p:spPr>
        <p:txBody>
          <a:bodyPr anchor="t" rtlCol="false" tIns="0" lIns="0" bIns="0" rIns="0">
            <a:spAutoFit/>
          </a:bodyPr>
          <a:lstStyle/>
          <a:p>
            <a:pPr algn="ctr">
              <a:lnSpc>
                <a:spcPts val="7808"/>
              </a:lnSpc>
            </a:pPr>
            <a:r>
              <a:rPr lang="en-US" sz="5577">
                <a:solidFill>
                  <a:srgbClr val="788838"/>
                </a:solidFill>
                <a:latin typeface="Brasika"/>
                <a:ea typeface="Brasika"/>
                <a:cs typeface="Brasika"/>
                <a:sym typeface="Brasika"/>
              </a:rPr>
              <a:t>### Trend Smoothing</a:t>
            </a:r>
          </a:p>
        </p:txBody>
      </p:sp>
      <p:sp>
        <p:nvSpPr>
          <p:cNvPr name="TextBox 11" id="11"/>
          <p:cNvSpPr txBox="true"/>
          <p:nvPr/>
        </p:nvSpPr>
        <p:spPr>
          <a:xfrm rot="0">
            <a:off x="604712" y="2799030"/>
            <a:ext cx="9803337" cy="6679665"/>
          </a:xfrm>
          <a:prstGeom prst="rect">
            <a:avLst/>
          </a:prstGeom>
        </p:spPr>
        <p:txBody>
          <a:bodyPr anchor="t" rtlCol="false" tIns="0" lIns="0" bIns="0" rIns="0">
            <a:spAutoFit/>
          </a:bodyPr>
          <a:lstStyle/>
          <a:p>
            <a:pPr algn="just">
              <a:lnSpc>
                <a:spcPts val="4054"/>
              </a:lnSpc>
            </a:pPr>
            <a:r>
              <a:rPr lang="en-US" sz="2896">
                <a:solidFill>
                  <a:srgbClr val="4B581A"/>
                </a:solidFill>
                <a:latin typeface="JA Jayagiri Sans"/>
                <a:ea typeface="JA Jayagiri Sans"/>
                <a:cs typeface="JA Jayagiri Sans"/>
                <a:sym typeface="JA Jayagiri Sans"/>
              </a:rPr>
              <a:t>📈 Trend Smoothing</a:t>
            </a:r>
          </a:p>
          <a:p>
            <a:pPr algn="just">
              <a:lnSpc>
                <a:spcPts val="4054"/>
              </a:lnSpc>
            </a:pPr>
            <a:r>
              <a:rPr lang="en-US" sz="2896">
                <a:solidFill>
                  <a:srgbClr val="4B581A"/>
                </a:solidFill>
                <a:latin typeface="JA Jayagiri Sans"/>
                <a:ea typeface="JA Jayagiri Sans"/>
                <a:cs typeface="JA Jayagiri Sans"/>
                <a:sym typeface="JA Jayagiri Sans"/>
              </a:rPr>
              <a:t>Purpose</a:t>
            </a:r>
          </a:p>
          <a:p>
            <a:pPr algn="just">
              <a:lnSpc>
                <a:spcPts val="4054"/>
              </a:lnSpc>
            </a:pPr>
            <a:r>
              <a:rPr lang="en-US" sz="2896">
                <a:solidFill>
                  <a:srgbClr val="4B581A"/>
                </a:solidFill>
                <a:latin typeface="JA Jayagiri Sans"/>
                <a:ea typeface="JA Jayagiri Sans"/>
                <a:cs typeface="JA Jayagiri Sans"/>
                <a:sym typeface="JA Jayagiri Sans"/>
              </a:rPr>
              <a:t>Shows the overall PM2.5 trend by reducing small fluctuations in the data.</a:t>
            </a:r>
          </a:p>
          <a:p>
            <a:pPr algn="just">
              <a:lnSpc>
                <a:spcPts val="4054"/>
              </a:lnSpc>
            </a:pPr>
            <a:r>
              <a:rPr lang="en-US" sz="2896">
                <a:solidFill>
                  <a:srgbClr val="4B581A"/>
                </a:solidFill>
                <a:latin typeface="JA Jayagiri Sans"/>
                <a:ea typeface="JA Jayagiri Sans"/>
                <a:cs typeface="JA Jayagiri Sans"/>
                <a:sym typeface="JA Jayagiri Sans"/>
              </a:rPr>
              <a:t>Key Points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Removes short-term changes in PM2.5.</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Displays the overall pollution trend clearly.</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Helps identify long-term patterns.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Makes the data easier to understand.</a:t>
            </a:r>
          </a:p>
          <a:p>
            <a:pPr algn="just">
              <a:lnSpc>
                <a:spcPts val="4054"/>
              </a:lnSpc>
            </a:pPr>
            <a:r>
              <a:rPr lang="en-US" sz="2896">
                <a:solidFill>
                  <a:srgbClr val="4B581A"/>
                </a:solidFill>
                <a:latin typeface="JA Jayagiri Sans"/>
                <a:ea typeface="JA Jayagiri Sans"/>
                <a:cs typeface="JA Jayagiri Sans"/>
                <a:sym typeface="JA Jayagiri Sans"/>
              </a:rPr>
              <a:t>Chart Details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X-Axis: Data Index / Time</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Y-Axis: Smoothed PM2.5</a:t>
            </a:r>
          </a:p>
          <a:p>
            <a:pPr algn="just">
              <a:lnSpc>
                <a:spcPts val="4054"/>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0">
            <a:off x="-2317328" y="5535346"/>
            <a:ext cx="10429217" cy="8229600"/>
          </a:xfrm>
          <a:custGeom>
            <a:avLst/>
            <a:gdLst/>
            <a:ahLst/>
            <a:cxnLst/>
            <a:rect r="r" b="b" t="t" l="l"/>
            <a:pathLst>
              <a:path h="8229600" w="10429217">
                <a:moveTo>
                  <a:pt x="0" y="0"/>
                </a:moveTo>
                <a:lnTo>
                  <a:pt x="10429217" y="0"/>
                </a:lnTo>
                <a:lnTo>
                  <a:pt x="10429217"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7672961">
            <a:off x="-1004493" y="3099942"/>
            <a:ext cx="3157665" cy="4870808"/>
          </a:xfrm>
          <a:custGeom>
            <a:avLst/>
            <a:gdLst/>
            <a:ahLst/>
            <a:cxnLst/>
            <a:rect r="r" b="b" t="t" l="l"/>
            <a:pathLst>
              <a:path h="4870808" w="3157665">
                <a:moveTo>
                  <a:pt x="0" y="0"/>
                </a:moveTo>
                <a:lnTo>
                  <a:pt x="3157665" y="0"/>
                </a:lnTo>
                <a:lnTo>
                  <a:pt x="3157665" y="4870808"/>
                </a:lnTo>
                <a:lnTo>
                  <a:pt x="0" y="4870808"/>
                </a:lnTo>
                <a:lnTo>
                  <a:pt x="0" y="0"/>
                </a:lnTo>
                <a:close/>
              </a:path>
            </a:pathLst>
          </a:custGeom>
          <a:blipFill>
            <a:blip r:embed="rId3"/>
            <a:stretch>
              <a:fillRect l="0" t="0" r="0" b="0"/>
            </a:stretch>
          </a:blipFill>
        </p:spPr>
      </p:sp>
      <p:sp>
        <p:nvSpPr>
          <p:cNvPr name="Freeform 4" id="4"/>
          <p:cNvSpPr/>
          <p:nvPr/>
        </p:nvSpPr>
        <p:spPr>
          <a:xfrm flipH="false" flipV="false" rot="0">
            <a:off x="12044692" y="-2583179"/>
            <a:ext cx="10429217" cy="8229600"/>
          </a:xfrm>
          <a:custGeom>
            <a:avLst/>
            <a:gdLst/>
            <a:ahLst/>
            <a:cxnLst/>
            <a:rect r="r" b="b" t="t" l="l"/>
            <a:pathLst>
              <a:path h="8229600" w="10429217">
                <a:moveTo>
                  <a:pt x="0" y="0"/>
                </a:moveTo>
                <a:lnTo>
                  <a:pt x="10429216" y="0"/>
                </a:lnTo>
                <a:lnTo>
                  <a:pt x="10429216" y="8229600"/>
                </a:lnTo>
                <a:lnTo>
                  <a:pt x="0" y="8229600"/>
                </a:lnTo>
                <a:lnTo>
                  <a:pt x="0" y="0"/>
                </a:lnTo>
                <a:close/>
              </a:path>
            </a:pathLst>
          </a:custGeom>
          <a:blipFill>
            <a:blip r:embed="rId2"/>
            <a:stretch>
              <a:fillRect l="0" t="0" r="0" b="0"/>
            </a:stretch>
          </a:blipFill>
        </p:spPr>
      </p:sp>
      <p:sp>
        <p:nvSpPr>
          <p:cNvPr name="Freeform 5" id="5"/>
          <p:cNvSpPr/>
          <p:nvPr/>
        </p:nvSpPr>
        <p:spPr>
          <a:xfrm flipH="true" flipV="false" rot="-1092841">
            <a:off x="15992336" y="3364045"/>
            <a:ext cx="2959254" cy="4564752"/>
          </a:xfrm>
          <a:custGeom>
            <a:avLst/>
            <a:gdLst/>
            <a:ahLst/>
            <a:cxnLst/>
            <a:rect r="r" b="b" t="t" l="l"/>
            <a:pathLst>
              <a:path h="4564752" w="2959254">
                <a:moveTo>
                  <a:pt x="2959254" y="0"/>
                </a:moveTo>
                <a:lnTo>
                  <a:pt x="0" y="0"/>
                </a:lnTo>
                <a:lnTo>
                  <a:pt x="0" y="4564752"/>
                </a:lnTo>
                <a:lnTo>
                  <a:pt x="2959254" y="4564752"/>
                </a:lnTo>
                <a:lnTo>
                  <a:pt x="2959254" y="0"/>
                </a:lnTo>
                <a:close/>
              </a:path>
            </a:pathLst>
          </a:custGeom>
          <a:blipFill>
            <a:blip r:embed="rId3"/>
            <a:stretch>
              <a:fillRect l="0" t="0" r="0" b="0"/>
            </a:stretch>
          </a:blipFill>
        </p:spPr>
      </p:sp>
      <p:sp>
        <p:nvSpPr>
          <p:cNvPr name="Freeform 6" id="6"/>
          <p:cNvSpPr/>
          <p:nvPr/>
        </p:nvSpPr>
        <p:spPr>
          <a:xfrm flipH="false" flipV="false" rot="0">
            <a:off x="13859585" y="6727040"/>
            <a:ext cx="7224756" cy="6565497"/>
          </a:xfrm>
          <a:custGeom>
            <a:avLst/>
            <a:gdLst/>
            <a:ahLst/>
            <a:cxnLst/>
            <a:rect r="r" b="b" t="t" l="l"/>
            <a:pathLst>
              <a:path h="6565497" w="7224756">
                <a:moveTo>
                  <a:pt x="0" y="0"/>
                </a:moveTo>
                <a:lnTo>
                  <a:pt x="7224756" y="0"/>
                </a:lnTo>
                <a:lnTo>
                  <a:pt x="7224756" y="6565497"/>
                </a:lnTo>
                <a:lnTo>
                  <a:pt x="0" y="6565497"/>
                </a:lnTo>
                <a:lnTo>
                  <a:pt x="0" y="0"/>
                </a:lnTo>
                <a:close/>
              </a:path>
            </a:pathLst>
          </a:custGeom>
          <a:blipFill>
            <a:blip r:embed="rId4"/>
            <a:stretch>
              <a:fillRect l="0" t="0" r="0" b="0"/>
            </a:stretch>
          </a:blipFill>
        </p:spPr>
      </p:sp>
      <p:sp>
        <p:nvSpPr>
          <p:cNvPr name="Freeform 7" id="7"/>
          <p:cNvSpPr/>
          <p:nvPr/>
        </p:nvSpPr>
        <p:spPr>
          <a:xfrm flipH="false" flipV="false" rot="0">
            <a:off x="-2999611" y="-1897479"/>
            <a:ext cx="7147901" cy="6495655"/>
          </a:xfrm>
          <a:custGeom>
            <a:avLst/>
            <a:gdLst/>
            <a:ahLst/>
            <a:cxnLst/>
            <a:rect r="r" b="b" t="t" l="l"/>
            <a:pathLst>
              <a:path h="6495655" w="7147901">
                <a:moveTo>
                  <a:pt x="0" y="0"/>
                </a:moveTo>
                <a:lnTo>
                  <a:pt x="7147901" y="0"/>
                </a:lnTo>
                <a:lnTo>
                  <a:pt x="7147901" y="6495655"/>
                </a:lnTo>
                <a:lnTo>
                  <a:pt x="0" y="6495655"/>
                </a:lnTo>
                <a:lnTo>
                  <a:pt x="0" y="0"/>
                </a:lnTo>
                <a:close/>
              </a:path>
            </a:pathLst>
          </a:custGeom>
          <a:blipFill>
            <a:blip r:embed="rId4"/>
            <a:stretch>
              <a:fillRect l="0" t="0" r="0" b="0"/>
            </a:stretch>
          </a:blipFill>
        </p:spPr>
      </p:sp>
      <p:sp>
        <p:nvSpPr>
          <p:cNvPr name="Freeform 8" id="8"/>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280125" y="9258300"/>
            <a:ext cx="8856830" cy="1502977"/>
          </a:xfrm>
          <a:custGeom>
            <a:avLst/>
            <a:gdLst/>
            <a:ahLst/>
            <a:cxnLst/>
            <a:rect r="r" b="b" t="t" l="l"/>
            <a:pathLst>
              <a:path h="1502977" w="8856830">
                <a:moveTo>
                  <a:pt x="8856830" y="0"/>
                </a:moveTo>
                <a:lnTo>
                  <a:pt x="0" y="0"/>
                </a:lnTo>
                <a:lnTo>
                  <a:pt x="0" y="1502977"/>
                </a:lnTo>
                <a:lnTo>
                  <a:pt x="8856830" y="1502977"/>
                </a:lnTo>
                <a:lnTo>
                  <a:pt x="885683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4148290" y="1600359"/>
            <a:ext cx="9991420" cy="1415611"/>
          </a:xfrm>
          <a:prstGeom prst="rect">
            <a:avLst/>
          </a:prstGeom>
        </p:spPr>
        <p:txBody>
          <a:bodyPr anchor="t" rtlCol="false" tIns="0" lIns="0" bIns="0" rIns="0">
            <a:spAutoFit/>
          </a:bodyPr>
          <a:lstStyle/>
          <a:p>
            <a:pPr algn="ctr">
              <a:lnSpc>
                <a:spcPts val="10944"/>
              </a:lnSpc>
            </a:pPr>
            <a:r>
              <a:rPr lang="en-US" sz="7817">
                <a:solidFill>
                  <a:srgbClr val="788838"/>
                </a:solidFill>
                <a:latin typeface="Brasika"/>
                <a:ea typeface="Brasika"/>
                <a:cs typeface="Brasika"/>
                <a:sym typeface="Brasika"/>
              </a:rPr>
              <a:t>Conclusion</a:t>
            </a:r>
          </a:p>
        </p:txBody>
      </p:sp>
      <p:sp>
        <p:nvSpPr>
          <p:cNvPr name="TextBox 11" id="11"/>
          <p:cNvSpPr txBox="true"/>
          <p:nvPr/>
        </p:nvSpPr>
        <p:spPr>
          <a:xfrm rot="0">
            <a:off x="3398952" y="3545484"/>
            <a:ext cx="11490096" cy="5650965"/>
          </a:xfrm>
          <a:prstGeom prst="rect">
            <a:avLst/>
          </a:prstGeom>
        </p:spPr>
        <p:txBody>
          <a:bodyPr anchor="t" rtlCol="false" tIns="0" lIns="0" bIns="0" rIns="0">
            <a:spAutoFit/>
          </a:bodyPr>
          <a:lstStyle/>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The air quality dataset was successfully analyzed using Python, Pandas, NumPy, Matplotlib, and Seaborn.</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Data cleaning and visualization helped identify PM2.5 trends across years, months, and hours.</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The analysis showed changes in pollution levels and detected outliers and correlations in the data.</a:t>
            </a:r>
          </a:p>
          <a:p>
            <a:pPr algn="just" marL="625262" indent="-312631" lvl="1">
              <a:lnSpc>
                <a:spcPts val="4054"/>
              </a:lnSpc>
              <a:buFont typeface="Arial"/>
              <a:buChar char="•"/>
            </a:pPr>
            <a:r>
              <a:rPr lang="en-US" sz="2896">
                <a:solidFill>
                  <a:srgbClr val="4B581A"/>
                </a:solidFill>
                <a:latin typeface="JA Jayagiri Sans"/>
                <a:ea typeface="JA Jayagiri Sans"/>
                <a:cs typeface="JA Jayagiri Sans"/>
                <a:sym typeface="JA Jayagiri Sans"/>
              </a:rPr>
              <a:t>This project demonstrates how data analytics can be used to understand air pollution and support better environmental decisions.</a:t>
            </a:r>
          </a:p>
          <a:p>
            <a:pPr algn="just">
              <a:lnSpc>
                <a:spcPts val="4054"/>
              </a:lnSpc>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FFCF5"/>
        </a:solidFill>
      </p:bgPr>
    </p:bg>
    <p:spTree>
      <p:nvGrpSpPr>
        <p:cNvPr id="1" name=""/>
        <p:cNvGrpSpPr/>
        <p:nvPr/>
      </p:nvGrpSpPr>
      <p:grpSpPr>
        <a:xfrm>
          <a:off x="0" y="0"/>
          <a:ext cx="0" cy="0"/>
          <a:chOff x="0" y="0"/>
          <a:chExt cx="0" cy="0"/>
        </a:xfrm>
      </p:grpSpPr>
      <p:sp>
        <p:nvSpPr>
          <p:cNvPr name="Freeform 2" id="2"/>
          <p:cNvSpPr/>
          <p:nvPr/>
        </p:nvSpPr>
        <p:spPr>
          <a:xfrm flipH="false" flipV="false" rot="1102282">
            <a:off x="-424094" y="5613969"/>
            <a:ext cx="3977629" cy="6135631"/>
          </a:xfrm>
          <a:custGeom>
            <a:avLst/>
            <a:gdLst/>
            <a:ahLst/>
            <a:cxnLst/>
            <a:rect r="r" b="b" t="t" l="l"/>
            <a:pathLst>
              <a:path h="6135631" w="3977629">
                <a:moveTo>
                  <a:pt x="0" y="0"/>
                </a:moveTo>
                <a:lnTo>
                  <a:pt x="3977629" y="0"/>
                </a:lnTo>
                <a:lnTo>
                  <a:pt x="3977629" y="6135631"/>
                </a:lnTo>
                <a:lnTo>
                  <a:pt x="0" y="6135631"/>
                </a:lnTo>
                <a:lnTo>
                  <a:pt x="0" y="0"/>
                </a:lnTo>
                <a:close/>
              </a:path>
            </a:pathLst>
          </a:custGeom>
          <a:blipFill>
            <a:blip r:embed="rId2"/>
            <a:stretch>
              <a:fillRect l="0" t="0" r="0" b="0"/>
            </a:stretch>
          </a:blipFill>
        </p:spPr>
      </p:sp>
      <p:sp>
        <p:nvSpPr>
          <p:cNvPr name="Freeform 3" id="3"/>
          <p:cNvSpPr/>
          <p:nvPr/>
        </p:nvSpPr>
        <p:spPr>
          <a:xfrm flipH="true" flipV="false" rot="-1092841">
            <a:off x="15684569" y="888100"/>
            <a:ext cx="3977629" cy="6135631"/>
          </a:xfrm>
          <a:custGeom>
            <a:avLst/>
            <a:gdLst/>
            <a:ahLst/>
            <a:cxnLst/>
            <a:rect r="r" b="b" t="t" l="l"/>
            <a:pathLst>
              <a:path h="6135631" w="3977629">
                <a:moveTo>
                  <a:pt x="3977629" y="0"/>
                </a:moveTo>
                <a:lnTo>
                  <a:pt x="0" y="0"/>
                </a:lnTo>
                <a:lnTo>
                  <a:pt x="0" y="6135630"/>
                </a:lnTo>
                <a:lnTo>
                  <a:pt x="3977629" y="6135630"/>
                </a:lnTo>
                <a:lnTo>
                  <a:pt x="3977629" y="0"/>
                </a:lnTo>
                <a:close/>
              </a:path>
            </a:pathLst>
          </a:custGeom>
          <a:blipFill>
            <a:blip r:embed="rId2"/>
            <a:stretch>
              <a:fillRect l="0" t="0" r="0" b="0"/>
            </a:stretch>
          </a:blipFill>
        </p:spPr>
      </p:sp>
      <p:sp>
        <p:nvSpPr>
          <p:cNvPr name="Freeform 4" id="4"/>
          <p:cNvSpPr/>
          <p:nvPr/>
        </p:nvSpPr>
        <p:spPr>
          <a:xfrm flipH="false" flipV="false" rot="0">
            <a:off x="12218392" y="5827555"/>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5" id="5"/>
          <p:cNvSpPr/>
          <p:nvPr/>
        </p:nvSpPr>
        <p:spPr>
          <a:xfrm flipH="false" flipV="false" rot="0">
            <a:off x="-2963257" y="-3694628"/>
            <a:ext cx="9055956" cy="8229600"/>
          </a:xfrm>
          <a:custGeom>
            <a:avLst/>
            <a:gdLst/>
            <a:ahLst/>
            <a:cxnLst/>
            <a:rect r="r" b="b" t="t" l="l"/>
            <a:pathLst>
              <a:path h="8229600" w="9055956">
                <a:moveTo>
                  <a:pt x="0" y="0"/>
                </a:moveTo>
                <a:lnTo>
                  <a:pt x="9055956" y="0"/>
                </a:lnTo>
                <a:lnTo>
                  <a:pt x="9055956" y="8229600"/>
                </a:lnTo>
                <a:lnTo>
                  <a:pt x="0" y="8229600"/>
                </a:lnTo>
                <a:lnTo>
                  <a:pt x="0" y="0"/>
                </a:lnTo>
                <a:close/>
              </a:path>
            </a:pathLst>
          </a:custGeom>
          <a:blipFill>
            <a:blip r:embed="rId3"/>
            <a:stretch>
              <a:fillRect l="0" t="0" r="0" b="0"/>
            </a:stretch>
          </a:blipFill>
        </p:spPr>
      </p:sp>
      <p:sp>
        <p:nvSpPr>
          <p:cNvPr name="Freeform 6" id="6"/>
          <p:cNvSpPr/>
          <p:nvPr/>
        </p:nvSpPr>
        <p:spPr>
          <a:xfrm flipH="false" flipV="false" rot="0">
            <a:off x="9431170" y="-474277"/>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574340" y="9258300"/>
            <a:ext cx="8856830" cy="1502977"/>
          </a:xfrm>
          <a:custGeom>
            <a:avLst/>
            <a:gdLst/>
            <a:ahLst/>
            <a:cxnLst/>
            <a:rect r="r" b="b" t="t" l="l"/>
            <a:pathLst>
              <a:path h="1502977" w="8856830">
                <a:moveTo>
                  <a:pt x="0" y="0"/>
                </a:moveTo>
                <a:lnTo>
                  <a:pt x="8856830" y="0"/>
                </a:lnTo>
                <a:lnTo>
                  <a:pt x="8856830" y="1502977"/>
                </a:lnTo>
                <a:lnTo>
                  <a:pt x="0" y="1502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2874407" y="3950582"/>
            <a:ext cx="12539187" cy="2061985"/>
          </a:xfrm>
          <a:prstGeom prst="rect">
            <a:avLst/>
          </a:prstGeom>
        </p:spPr>
        <p:txBody>
          <a:bodyPr anchor="t" rtlCol="false" tIns="0" lIns="0" bIns="0" rIns="0">
            <a:spAutoFit/>
          </a:bodyPr>
          <a:lstStyle/>
          <a:p>
            <a:pPr algn="ctr">
              <a:lnSpc>
                <a:spcPts val="16026"/>
              </a:lnSpc>
            </a:pPr>
            <a:r>
              <a:rPr lang="en-US" sz="11447">
                <a:solidFill>
                  <a:srgbClr val="788838"/>
                </a:solidFill>
                <a:latin typeface="Brasika"/>
                <a:ea typeface="Brasika"/>
                <a:cs typeface="Brasika"/>
                <a:sym typeface="Brasik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DAHNLpbE0KA</dc:identifier>
  <dcterms:modified xsi:type="dcterms:W3CDTF">2011-08-01T06:04:30Z</dcterms:modified>
  <cp:revision>1</cp:revision>
  <dc:title>Group Project</dc:title>
</cp:coreProperties>
</file>